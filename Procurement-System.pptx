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72" r:id="rId8"/>
    <p:sldId id="270" r:id="rId9"/>
    <p:sldId id="271" r:id="rId10"/>
    <p:sldId id="262" r:id="rId11"/>
    <p:sldId id="263" r:id="rId12"/>
    <p:sldId id="264" r:id="rId13"/>
    <p:sldId id="268" r:id="rId14"/>
  </p:sldIdLst>
  <p:sldSz cx="12192000" cy="6858000"/>
  <p:notesSz cx="6858000" cy="12192000"/>
  <p:embeddedFontLst>
    <p:embeddedFont>
      <p:font typeface="Fira Sans" panose="020B0503050000020004" pitchFamily="34" charset="0"/>
      <p:regular r:id="rId16"/>
    </p:embeddedFont>
    <p:embeddedFont>
      <p:font typeface="Fira Sans Bold" panose="020B0803050000020004" charset="0"/>
      <p:regular r:id="rId17"/>
    </p:embeddedFont>
    <p:embeddedFont>
      <p:font typeface="Inconsolata Bold" pitchFamily="1" charset="0"/>
      <p:regular r:id="rId18"/>
      <p:bold r:id="rId19"/>
    </p:embeddedFont>
    <p:embeddedFont>
      <p:font typeface="Inconsolata Light" pitchFamily="1"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3930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0C17"/>
          </a:solidFill>
          <a:ln/>
        </p:spPr>
      </p:sp>
      <p:sp>
        <p:nvSpPr>
          <p:cNvPr id="3" name="Shape 1"/>
          <p:cNvSpPr/>
          <p:nvPr/>
        </p:nvSpPr>
        <p:spPr>
          <a:xfrm>
            <a:off x="0" y="0"/>
            <a:ext cx="12191695" cy="6858000"/>
          </a:xfrm>
          <a:prstGeom prst="rect">
            <a:avLst/>
          </a:prstGeom>
          <a:solidFill>
            <a:srgbClr val="24163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0C17"/>
          </a:solidFill>
          <a:ln/>
        </p:spPr>
      </p:sp>
      <p:sp>
        <p:nvSpPr>
          <p:cNvPr id="3" name="Shape 1"/>
          <p:cNvSpPr/>
          <p:nvPr/>
        </p:nvSpPr>
        <p:spPr>
          <a:xfrm>
            <a:off x="0" y="0"/>
            <a:ext cx="12191695" cy="6858000"/>
          </a:xfrm>
          <a:prstGeom prst="rect">
            <a:avLst/>
          </a:prstGeom>
          <a:solidFill>
            <a:srgbClr val="241631"/>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241631">
              <a:alpha val="5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3" Type="http://schemas.openxmlformats.org/officeDocument/2006/relationships/image" Target="../media/image13.svg"/><Relationship Id="rId7" Type="http://schemas.openxmlformats.org/officeDocument/2006/relationships/image" Target="../media/image17.svg"/><Relationship Id="rId12"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4.sv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33550"/>
          </a:solidFill>
          <a:ln/>
        </p:spPr>
      </p:sp>
      <p:pic>
        <p:nvPicPr>
          <p:cNvPr id="3" name="Image 0" descr="preencoded.png"/>
          <p:cNvPicPr>
            <a:picLocks noChangeAspect="1"/>
          </p:cNvPicPr>
          <p:nvPr/>
        </p:nvPicPr>
        <p:blipFill>
          <a:blip r:embed="rId3"/>
          <a:stretch>
            <a:fillRect/>
          </a:stretch>
        </p:blipFill>
        <p:spPr>
          <a:xfrm>
            <a:off x="7714263" y="506909"/>
            <a:ext cx="4382879" cy="5844084"/>
          </a:xfrm>
          <a:prstGeom prst="rect">
            <a:avLst/>
          </a:prstGeom>
        </p:spPr>
      </p:pic>
      <p:sp>
        <p:nvSpPr>
          <p:cNvPr id="4" name="Text 1"/>
          <p:cNvSpPr/>
          <p:nvPr/>
        </p:nvSpPr>
        <p:spPr>
          <a:xfrm>
            <a:off x="661475" y="2098873"/>
            <a:ext cx="6296860" cy="1771948"/>
          </a:xfrm>
          <a:prstGeom prst="rect">
            <a:avLst/>
          </a:prstGeom>
          <a:noFill/>
          <a:ln/>
        </p:spPr>
        <p:txBody>
          <a:bodyPr wrap="square" lIns="0" tIns="0" rIns="0" bIns="0" rtlCol="0" anchor="t">
            <a:normAutofit fontScale="92500"/>
          </a:bodyPr>
          <a:lstStyle/>
          <a:p>
            <a:r>
              <a:rPr lang="en-US" sz="3700" b="1" dirty="0">
                <a:solidFill>
                  <a:srgbClr val="F94CAF"/>
                </a:solidFill>
                <a:latin typeface="Inconsolata Bold" pitchFamily="34" charset="0"/>
                <a:ea typeface="Inconsolata Bold" pitchFamily="34" charset="-122"/>
                <a:cs typeface="Inconsolata Bold" pitchFamily="34" charset="-120"/>
              </a:rPr>
              <a:t>Development Of Smart Procurement &amp; Purchase Order Management System Group 1</a:t>
            </a:r>
            <a:endParaRPr lang="en-US" sz="3700" dirty="0"/>
          </a:p>
        </p:txBody>
      </p:sp>
      <p:sp>
        <p:nvSpPr>
          <p:cNvPr id="5" name="Text 2"/>
          <p:cNvSpPr/>
          <p:nvPr/>
        </p:nvSpPr>
        <p:spPr>
          <a:xfrm>
            <a:off x="661475" y="4154289"/>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AD1E6"/>
                </a:solidFill>
                <a:latin typeface="Fira Sans" pitchFamily="34" charset="0"/>
                <a:ea typeface="Fira Sans" pitchFamily="34" charset="-122"/>
                <a:cs typeface="Fira Sans" pitchFamily="34" charset="-120"/>
              </a:rPr>
              <a:t>A centralized, role-based platform unifying employees, administrators, and suppliers in a single automated procurement lifecycle.</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433550"/>
          </a:solidFill>
          <a:ln/>
        </p:spPr>
      </p:sp>
      <p:pic>
        <p:nvPicPr>
          <p:cNvPr id="3" name="Image 0" descr="preencoded.png"/>
          <p:cNvPicPr>
            <a:picLocks noChangeAspect="1"/>
          </p:cNvPicPr>
          <p:nvPr/>
        </p:nvPicPr>
        <p:blipFill>
          <a:blip r:embed="rId3"/>
          <a:stretch>
            <a:fillRect/>
          </a:stretch>
        </p:blipFill>
        <p:spPr>
          <a:xfrm>
            <a:off x="89692" y="500559"/>
            <a:ext cx="4392403" cy="5856784"/>
          </a:xfrm>
          <a:prstGeom prst="rect">
            <a:avLst/>
          </a:prstGeom>
        </p:spPr>
      </p:pic>
      <p:sp>
        <p:nvSpPr>
          <p:cNvPr id="4" name="Text 1"/>
          <p:cNvSpPr/>
          <p:nvPr/>
        </p:nvSpPr>
        <p:spPr>
          <a:xfrm>
            <a:off x="5233360" y="556419"/>
            <a:ext cx="6296860" cy="112236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Introduction &amp; Project Rationale</a:t>
            </a:r>
            <a:endParaRPr lang="en-US" sz="3500" dirty="0"/>
          </a:p>
        </p:txBody>
      </p:sp>
      <p:sp>
        <p:nvSpPr>
          <p:cNvPr id="5" name="Text 2"/>
          <p:cNvSpPr/>
          <p:nvPr/>
        </p:nvSpPr>
        <p:spPr>
          <a:xfrm>
            <a:off x="5233360" y="1934666"/>
            <a:ext cx="6296860" cy="1400473"/>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The Procurement System is a comprehensive web-based application designed to centralize and automate the entire procurement lifecycle within an organization. Traditional procurement processes rely heavily on manual approvals, fragmented email communications, and disconnected systems that create inefficiencies and lack transparency.</a:t>
            </a:r>
            <a:endParaRPr lang="en-US" sz="1400" dirty="0"/>
          </a:p>
        </p:txBody>
      </p:sp>
      <p:sp>
        <p:nvSpPr>
          <p:cNvPr id="6" name="Shape 3"/>
          <p:cNvSpPr/>
          <p:nvPr/>
        </p:nvSpPr>
        <p:spPr>
          <a:xfrm>
            <a:off x="5233360" y="3527028"/>
            <a:ext cx="3063104" cy="1582043"/>
          </a:xfrm>
          <a:prstGeom prst="roundRect">
            <a:avLst>
              <a:gd name="adj" fmla="val 1703"/>
            </a:avLst>
          </a:prstGeom>
          <a:solidFill>
            <a:srgbClr val="433550"/>
          </a:solidFill>
          <a:ln/>
        </p:spPr>
      </p:sp>
      <p:sp>
        <p:nvSpPr>
          <p:cNvPr id="7" name="Text 4"/>
          <p:cNvSpPr/>
          <p:nvPr/>
        </p:nvSpPr>
        <p:spPr>
          <a:xfrm>
            <a:off x="5412843" y="3706515"/>
            <a:ext cx="2704139"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Unified Platform</a:t>
            </a:r>
            <a:endParaRPr lang="en-US" sz="1750" dirty="0"/>
          </a:p>
        </p:txBody>
      </p:sp>
      <p:sp>
        <p:nvSpPr>
          <p:cNvPr id="8" name="Text 5"/>
          <p:cNvSpPr/>
          <p:nvPr/>
        </p:nvSpPr>
        <p:spPr>
          <a:xfrm>
            <a:off x="5412843" y="4089301"/>
            <a:ext cx="2704139" cy="84028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Employees, admins, and suppliers consolidated onto one system</a:t>
            </a:r>
            <a:endParaRPr lang="en-US" sz="1400" dirty="0"/>
          </a:p>
        </p:txBody>
      </p:sp>
      <p:sp>
        <p:nvSpPr>
          <p:cNvPr id="9" name="Shape 6"/>
          <p:cNvSpPr/>
          <p:nvPr/>
        </p:nvSpPr>
        <p:spPr>
          <a:xfrm>
            <a:off x="8467017" y="3527028"/>
            <a:ext cx="3063203" cy="1582043"/>
          </a:xfrm>
          <a:prstGeom prst="roundRect">
            <a:avLst>
              <a:gd name="adj" fmla="val 1703"/>
            </a:avLst>
          </a:prstGeom>
          <a:solidFill>
            <a:srgbClr val="433550"/>
          </a:solidFill>
          <a:ln/>
        </p:spPr>
      </p:sp>
      <p:sp>
        <p:nvSpPr>
          <p:cNvPr id="10" name="Text 7"/>
          <p:cNvSpPr/>
          <p:nvPr/>
        </p:nvSpPr>
        <p:spPr>
          <a:xfrm>
            <a:off x="8646499" y="3706515"/>
            <a:ext cx="2704239"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Real-Time Coordination</a:t>
            </a:r>
            <a:endParaRPr lang="en-US" sz="1750" dirty="0"/>
          </a:p>
        </p:txBody>
      </p:sp>
      <p:sp>
        <p:nvSpPr>
          <p:cNvPr id="11" name="Text 8"/>
          <p:cNvSpPr/>
          <p:nvPr/>
        </p:nvSpPr>
        <p:spPr>
          <a:xfrm>
            <a:off x="8646499" y="4089301"/>
            <a:ext cx="2704239"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Track requests, budgets, and supplier updates instantly</a:t>
            </a:r>
            <a:endParaRPr lang="en-US" sz="1400" dirty="0"/>
          </a:p>
        </p:txBody>
      </p:sp>
      <p:sp>
        <p:nvSpPr>
          <p:cNvPr id="12" name="Shape 9"/>
          <p:cNvSpPr/>
          <p:nvPr/>
        </p:nvSpPr>
        <p:spPr>
          <a:xfrm>
            <a:off x="5233360" y="5279628"/>
            <a:ext cx="6296860" cy="1021854"/>
          </a:xfrm>
          <a:prstGeom prst="roundRect">
            <a:avLst>
              <a:gd name="adj" fmla="val 2636"/>
            </a:avLst>
          </a:prstGeom>
          <a:solidFill>
            <a:srgbClr val="433550"/>
          </a:solidFill>
          <a:ln/>
        </p:spPr>
      </p:sp>
      <p:sp>
        <p:nvSpPr>
          <p:cNvPr id="13" name="Text 10"/>
          <p:cNvSpPr/>
          <p:nvPr/>
        </p:nvSpPr>
        <p:spPr>
          <a:xfrm>
            <a:off x="5412843" y="5459115"/>
            <a:ext cx="5937895"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Full Transparency</a:t>
            </a:r>
            <a:endParaRPr lang="en-US" sz="1750" dirty="0"/>
          </a:p>
        </p:txBody>
      </p:sp>
      <p:sp>
        <p:nvSpPr>
          <p:cNvPr id="14" name="Text 11"/>
          <p:cNvSpPr/>
          <p:nvPr/>
        </p:nvSpPr>
        <p:spPr>
          <a:xfrm>
            <a:off x="5412843" y="5841901"/>
            <a:ext cx="5937895" cy="280095"/>
          </a:xfrm>
          <a:prstGeom prst="rect">
            <a:avLst/>
          </a:prstGeom>
          <a:noFill/>
          <a:ln/>
        </p:spPr>
        <p:txBody>
          <a:bodyPr wrap="none" lIns="0" tIns="0" rIns="0" bIns="0" rtlCol="0" anchor="t"/>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Every stakeholder sees the information they need, when they need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36674"/>
            <a:ext cx="10868745" cy="494209"/>
          </a:xfrm>
          <a:prstGeom prst="rect">
            <a:avLst/>
          </a:prstGeom>
          <a:noFill/>
          <a:ln/>
        </p:spPr>
        <p:txBody>
          <a:bodyPr wrap="none" lIns="0" tIns="0" rIns="0" bIns="0" rtlCol="0" anchor="t"/>
          <a:lstStyle/>
          <a:p>
            <a:pPr marL="0" indent="0" algn="l">
              <a:lnSpc>
                <a:spcPct val="104000"/>
              </a:lnSpc>
              <a:buNone/>
            </a:pPr>
            <a:r>
              <a:rPr lang="en-US" sz="3100" b="1" dirty="0">
                <a:solidFill>
                  <a:srgbClr val="F94CAF"/>
                </a:solidFill>
                <a:latin typeface="Inconsolata Bold" pitchFamily="34" charset="0"/>
                <a:ea typeface="Inconsolata Bold" pitchFamily="34" charset="-122"/>
                <a:cs typeface="Inconsolata Bold" pitchFamily="34" charset="-120"/>
              </a:rPr>
              <a:t>The Problem: Fragmented Procurement Processes</a:t>
            </a:r>
            <a:endParaRPr lang="en-US" sz="3100" dirty="0"/>
          </a:p>
        </p:txBody>
      </p:sp>
      <p:pic>
        <p:nvPicPr>
          <p:cNvPr id="3" name="Image 0" descr="preencoded.png"/>
          <p:cNvPicPr>
            <a:picLocks noChangeAspect="1"/>
          </p:cNvPicPr>
          <p:nvPr/>
        </p:nvPicPr>
        <p:blipFill>
          <a:blip r:embed="rId3"/>
          <a:stretch>
            <a:fillRect/>
          </a:stretch>
        </p:blipFill>
        <p:spPr>
          <a:xfrm>
            <a:off x="927970" y="1378148"/>
            <a:ext cx="3020242" cy="3020318"/>
          </a:xfrm>
          <a:prstGeom prst="rect">
            <a:avLst/>
          </a:prstGeom>
        </p:spPr>
      </p:pic>
      <p:sp>
        <p:nvSpPr>
          <p:cNvPr id="4" name="Text 1"/>
          <p:cNvSpPr/>
          <p:nvPr/>
        </p:nvSpPr>
        <p:spPr>
          <a:xfrm>
            <a:off x="4606810" y="2356644"/>
            <a:ext cx="6929661" cy="247154"/>
          </a:xfrm>
          <a:prstGeom prst="rect">
            <a:avLst/>
          </a:prstGeom>
          <a:noFill/>
          <a:ln/>
        </p:spPr>
        <p:txBody>
          <a:bodyPr wrap="none" lIns="0" tIns="0" rIns="0" bIns="0" rtlCol="0" anchor="t"/>
          <a:lstStyle/>
          <a:p>
            <a:pPr marL="0" indent="0" algn="l">
              <a:lnSpc>
                <a:spcPct val="104000"/>
              </a:lnSpc>
              <a:buNone/>
            </a:pPr>
            <a:r>
              <a:rPr lang="en-US" sz="1550" b="1" dirty="0">
                <a:solidFill>
                  <a:srgbClr val="F94CAF"/>
                </a:solidFill>
                <a:latin typeface="Inconsolata Bold" pitchFamily="34" charset="0"/>
                <a:ea typeface="Inconsolata Bold" pitchFamily="34" charset="-122"/>
                <a:cs typeface="Inconsolata Bold" pitchFamily="34" charset="-120"/>
              </a:rPr>
              <a:t>A Cascading Chain of Inefficiency</a:t>
            </a:r>
            <a:endParaRPr lang="en-US" sz="1550" dirty="0"/>
          </a:p>
        </p:txBody>
      </p:sp>
      <p:sp>
        <p:nvSpPr>
          <p:cNvPr id="5" name="Text 2"/>
          <p:cNvSpPr/>
          <p:nvPr/>
        </p:nvSpPr>
        <p:spPr>
          <a:xfrm>
            <a:off x="4606810" y="2736056"/>
            <a:ext cx="6929661" cy="697111"/>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DAD1E6"/>
                </a:solidFill>
                <a:latin typeface="Fira Sans" pitchFamily="34" charset="0"/>
                <a:ea typeface="Fira Sans" pitchFamily="34" charset="-122"/>
                <a:cs typeface="Fira Sans" pitchFamily="34" charset="-120"/>
              </a:rPr>
              <a:t>Organizations face significant challenges with traditional procurement methods. The process is heavily fragmented, relying on manual approvals and email chains that create multiple bottlenecks at every stage.</a:t>
            </a:r>
            <a:endParaRPr lang="en-US" sz="12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696123"/>
            <a:ext cx="2617920" cy="1625203"/>
          </a:xfrm>
          <a:prstGeom prst="rect">
            <a:avLst/>
          </a:prstGeom>
        </p:spPr>
      </p:pic>
      <p:sp>
        <p:nvSpPr>
          <p:cNvPr id="7" name="Text 3"/>
          <p:cNvSpPr/>
          <p:nvPr/>
        </p:nvSpPr>
        <p:spPr>
          <a:xfrm>
            <a:off x="914873" y="4873327"/>
            <a:ext cx="2187322" cy="494308"/>
          </a:xfrm>
          <a:prstGeom prst="rect">
            <a:avLst/>
          </a:prstGeom>
          <a:noFill/>
          <a:ln/>
        </p:spPr>
        <p:txBody>
          <a:bodyPr wrap="square" lIns="0" tIns="0" rIns="0" bIns="0" rtlCol="0" anchor="t">
            <a:normAutofit/>
          </a:bodyPr>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No Visibility for Employees</a:t>
            </a:r>
            <a:endParaRPr lang="en-US" sz="1550" dirty="0"/>
          </a:p>
        </p:txBody>
      </p:sp>
      <p:sp>
        <p:nvSpPr>
          <p:cNvPr id="8" name="Text 4"/>
          <p:cNvSpPr/>
          <p:nvPr/>
        </p:nvSpPr>
        <p:spPr>
          <a:xfrm>
            <a:off x="914873" y="5447010"/>
            <a:ext cx="2187322" cy="697111"/>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DAD1E6"/>
                </a:solidFill>
                <a:latin typeface="Fira Sans" pitchFamily="34" charset="0"/>
                <a:ea typeface="Fira Sans" pitchFamily="34" charset="-122"/>
                <a:cs typeface="Fira Sans" pitchFamily="34" charset="-120"/>
              </a:rPr>
              <a:t>Purchase requests disappear into email inboxes with no status tracking</a:t>
            </a:r>
            <a:endParaRPr lang="en-US" sz="12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1651" y="4696123"/>
            <a:ext cx="2618020" cy="1625203"/>
          </a:xfrm>
          <a:prstGeom prst="rect">
            <a:avLst/>
          </a:prstGeom>
        </p:spPr>
      </p:pic>
      <p:sp>
        <p:nvSpPr>
          <p:cNvPr id="10" name="Text 5"/>
          <p:cNvSpPr/>
          <p:nvPr/>
        </p:nvSpPr>
        <p:spPr>
          <a:xfrm>
            <a:off x="3665049" y="4873327"/>
            <a:ext cx="2187421" cy="247154"/>
          </a:xfrm>
          <a:prstGeom prst="rect">
            <a:avLst/>
          </a:prstGeom>
          <a:noFill/>
          <a:ln/>
        </p:spPr>
        <p:txBody>
          <a:bodyPr wrap="none" lIns="0" tIns="0" rIns="0" bIns="0" rtlCol="0" anchor="t"/>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Admin Overload</a:t>
            </a:r>
            <a:endParaRPr lang="en-US" sz="1550" dirty="0"/>
          </a:p>
        </p:txBody>
      </p:sp>
      <p:sp>
        <p:nvSpPr>
          <p:cNvPr id="11" name="Text 6"/>
          <p:cNvSpPr/>
          <p:nvPr/>
        </p:nvSpPr>
        <p:spPr>
          <a:xfrm>
            <a:off x="3665049" y="5199856"/>
            <a:ext cx="2187421" cy="697111"/>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DAD1E6"/>
                </a:solidFill>
                <a:latin typeface="Fira Sans" pitchFamily="34" charset="0"/>
                <a:ea typeface="Fira Sans" pitchFamily="34" charset="-122"/>
                <a:cs typeface="Fira Sans" pitchFamily="34" charset="-120"/>
              </a:rPr>
              <a:t>Manual budget verification and supplier coordination overwhelm administrators</a:t>
            </a:r>
            <a:endParaRPr lang="en-US" sz="12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1926" y="4696123"/>
            <a:ext cx="2618020" cy="1625203"/>
          </a:xfrm>
          <a:prstGeom prst="rect">
            <a:avLst/>
          </a:prstGeom>
        </p:spPr>
      </p:pic>
      <p:sp>
        <p:nvSpPr>
          <p:cNvPr id="13" name="Text 7"/>
          <p:cNvSpPr/>
          <p:nvPr/>
        </p:nvSpPr>
        <p:spPr>
          <a:xfrm>
            <a:off x="6415324" y="4873327"/>
            <a:ext cx="2187421" cy="494308"/>
          </a:xfrm>
          <a:prstGeom prst="rect">
            <a:avLst/>
          </a:prstGeom>
          <a:noFill/>
          <a:ln/>
        </p:spPr>
        <p:txBody>
          <a:bodyPr wrap="square" lIns="0" tIns="0" rIns="0" bIns="0" rtlCol="0" anchor="t">
            <a:normAutofit/>
          </a:bodyPr>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Supplier Miscommunication</a:t>
            </a:r>
            <a:endParaRPr lang="en-US" sz="1550" dirty="0"/>
          </a:p>
        </p:txBody>
      </p:sp>
      <p:sp>
        <p:nvSpPr>
          <p:cNvPr id="14" name="Text 8"/>
          <p:cNvSpPr/>
          <p:nvPr/>
        </p:nvSpPr>
        <p:spPr>
          <a:xfrm>
            <a:off x="6415324" y="5447010"/>
            <a:ext cx="2187421" cy="697111"/>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DAD1E6"/>
                </a:solidFill>
                <a:latin typeface="Fira Sans" pitchFamily="34" charset="0"/>
                <a:ea typeface="Fira Sans" pitchFamily="34" charset="-122"/>
                <a:cs typeface="Fira Sans" pitchFamily="34" charset="-120"/>
              </a:rPr>
              <a:t>Orders lost in threads cause fulfillment delays and inventory shortages</a:t>
            </a:r>
            <a:endParaRPr lang="en-US" sz="12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12200" y="4696123"/>
            <a:ext cx="2618020" cy="1625203"/>
          </a:xfrm>
          <a:prstGeom prst="rect">
            <a:avLst/>
          </a:prstGeom>
        </p:spPr>
      </p:pic>
      <p:sp>
        <p:nvSpPr>
          <p:cNvPr id="16" name="Text 9"/>
          <p:cNvSpPr/>
          <p:nvPr/>
        </p:nvSpPr>
        <p:spPr>
          <a:xfrm>
            <a:off x="9165599" y="4873327"/>
            <a:ext cx="2187421" cy="247154"/>
          </a:xfrm>
          <a:prstGeom prst="rect">
            <a:avLst/>
          </a:prstGeom>
          <a:noFill/>
          <a:ln/>
        </p:spPr>
        <p:txBody>
          <a:bodyPr wrap="none" lIns="0" tIns="0" rIns="0" bIns="0" rtlCol="0" anchor="t"/>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Financial Opacity</a:t>
            </a:r>
            <a:endParaRPr lang="en-US" sz="1550" dirty="0"/>
          </a:p>
        </p:txBody>
      </p:sp>
      <p:sp>
        <p:nvSpPr>
          <p:cNvPr id="17" name="Text 10"/>
          <p:cNvSpPr/>
          <p:nvPr/>
        </p:nvSpPr>
        <p:spPr>
          <a:xfrm>
            <a:off x="9165599" y="5199856"/>
            <a:ext cx="2187421" cy="697111"/>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DAD1E6"/>
                </a:solidFill>
                <a:latin typeface="Fira Sans" pitchFamily="34" charset="0"/>
                <a:ea typeface="Fira Sans" pitchFamily="34" charset="-122"/>
                <a:cs typeface="Fira Sans" pitchFamily="34" charset="-120"/>
              </a:rPr>
              <a:t>Finance teams cannot reconcile spend against authorized purchase orders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58614"/>
            <a:ext cx="10868745" cy="112236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Technology Stack: Frontend &amp; Backend Architecture</a:t>
            </a:r>
            <a:endParaRPr lang="en-US" sz="3500" dirty="0"/>
          </a:p>
        </p:txBody>
      </p:sp>
      <p:sp>
        <p:nvSpPr>
          <p:cNvPr id="3" name="Text 1"/>
          <p:cNvSpPr/>
          <p:nvPr/>
        </p:nvSpPr>
        <p:spPr>
          <a:xfrm>
            <a:off x="661475" y="2207419"/>
            <a:ext cx="5215303" cy="280491"/>
          </a:xfrm>
          <a:prstGeom prst="rect">
            <a:avLst/>
          </a:prstGeom>
          <a:noFill/>
          <a:ln/>
        </p:spPr>
        <p:txBody>
          <a:bodyPr wrap="none" lIns="0" tIns="0" rIns="0" bIns="0" rtlCol="0" anchor="t"/>
          <a:lstStyle/>
          <a:p>
            <a:pPr marL="0" indent="0" algn="l">
              <a:lnSpc>
                <a:spcPct val="104000"/>
              </a:lnSpc>
              <a:buNone/>
            </a:pPr>
            <a:r>
              <a:rPr lang="en-US" sz="1750" b="1" dirty="0">
                <a:solidFill>
                  <a:srgbClr val="F94CAF"/>
                </a:solidFill>
                <a:latin typeface="Inconsolata Bold" pitchFamily="34" charset="0"/>
                <a:ea typeface="Inconsolata Bold" pitchFamily="34" charset="-122"/>
                <a:cs typeface="Inconsolata Bold" pitchFamily="34" charset="-120"/>
              </a:rPr>
              <a:t>Frontend</a:t>
            </a:r>
            <a:endParaRPr lang="en-US" sz="1750" dirty="0"/>
          </a:p>
        </p:txBody>
      </p:sp>
      <p:sp>
        <p:nvSpPr>
          <p:cNvPr id="4" name="Text 2"/>
          <p:cNvSpPr/>
          <p:nvPr/>
        </p:nvSpPr>
        <p:spPr>
          <a:xfrm>
            <a:off x="1236036" y="2741513"/>
            <a:ext cx="1926482"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React 19 + Vite</a:t>
            </a:r>
            <a:endParaRPr lang="en-US" sz="1750" dirty="0"/>
          </a:p>
        </p:txBody>
      </p:sp>
      <p:sp>
        <p:nvSpPr>
          <p:cNvPr id="5" name="Text 3"/>
          <p:cNvSpPr/>
          <p:nvPr/>
        </p:nvSpPr>
        <p:spPr>
          <a:xfrm>
            <a:off x="1236036" y="3192562"/>
            <a:ext cx="1926482"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Faster builds, superior developer experience, component reusability across three portals</a:t>
            </a:r>
            <a:endParaRPr lang="en-US" sz="1400" dirty="0"/>
          </a:p>
        </p:txBody>
      </p:sp>
      <p:sp>
        <p:nvSpPr>
          <p:cNvPr id="6" name="Text 4"/>
          <p:cNvSpPr/>
          <p:nvPr/>
        </p:nvSpPr>
        <p:spPr>
          <a:xfrm>
            <a:off x="3950296" y="2741513"/>
            <a:ext cx="1926482"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Tailwind CSS</a:t>
            </a:r>
            <a:endParaRPr lang="en-US" sz="1750" dirty="0"/>
          </a:p>
        </p:txBody>
      </p:sp>
      <p:sp>
        <p:nvSpPr>
          <p:cNvPr id="7" name="Text 5"/>
          <p:cNvSpPr/>
          <p:nvPr/>
        </p:nvSpPr>
        <p:spPr>
          <a:xfrm>
            <a:off x="3950296" y="3192562"/>
            <a:ext cx="1926482"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Rapid UI development with consistent design language, no custom CSS overhead</a:t>
            </a:r>
            <a:endParaRPr lang="en-US" sz="1400" dirty="0"/>
          </a:p>
        </p:txBody>
      </p:sp>
      <p:sp>
        <p:nvSpPr>
          <p:cNvPr id="8" name="Text 6"/>
          <p:cNvSpPr/>
          <p:nvPr/>
        </p:nvSpPr>
        <p:spPr>
          <a:xfrm>
            <a:off x="1236036" y="4715768"/>
            <a:ext cx="4640742"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React Router DOM + Lucide React</a:t>
            </a:r>
            <a:endParaRPr lang="en-US" sz="1750" dirty="0"/>
          </a:p>
        </p:txBody>
      </p:sp>
      <p:sp>
        <p:nvSpPr>
          <p:cNvPr id="9" name="Text 7"/>
          <p:cNvSpPr/>
          <p:nvPr/>
        </p:nvSpPr>
        <p:spPr>
          <a:xfrm>
            <a:off x="1236036" y="5166816"/>
            <a:ext cx="4640742" cy="280095"/>
          </a:xfrm>
          <a:prstGeom prst="rect">
            <a:avLst/>
          </a:prstGeom>
          <a:noFill/>
          <a:ln/>
        </p:spPr>
        <p:txBody>
          <a:bodyPr wrap="none" lIns="0" tIns="0" rIns="0" bIns="0" rtlCol="0" anchor="t"/>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Portal navigation management and intuitive icon library</a:t>
            </a:r>
            <a:endParaRPr lang="en-US" sz="1400" dirty="0"/>
          </a:p>
        </p:txBody>
      </p:sp>
      <p:sp>
        <p:nvSpPr>
          <p:cNvPr id="10" name="Text 8"/>
          <p:cNvSpPr/>
          <p:nvPr/>
        </p:nvSpPr>
        <p:spPr>
          <a:xfrm>
            <a:off x="6321267" y="2207419"/>
            <a:ext cx="5215303" cy="280491"/>
          </a:xfrm>
          <a:prstGeom prst="rect">
            <a:avLst/>
          </a:prstGeom>
          <a:noFill/>
          <a:ln/>
        </p:spPr>
        <p:txBody>
          <a:bodyPr wrap="none" lIns="0" tIns="0" rIns="0" bIns="0" rtlCol="0" anchor="t"/>
          <a:lstStyle/>
          <a:p>
            <a:pPr marL="0" indent="0" algn="l">
              <a:lnSpc>
                <a:spcPct val="104000"/>
              </a:lnSpc>
              <a:buNone/>
            </a:pPr>
            <a:r>
              <a:rPr lang="en-US" sz="1750" b="1" dirty="0">
                <a:solidFill>
                  <a:srgbClr val="F94CAF"/>
                </a:solidFill>
                <a:latin typeface="Inconsolata Bold" pitchFamily="34" charset="0"/>
                <a:ea typeface="Inconsolata Bold" pitchFamily="34" charset="-122"/>
                <a:cs typeface="Inconsolata Bold" pitchFamily="34" charset="-120"/>
              </a:rPr>
              <a:t>Backend</a:t>
            </a:r>
            <a:endParaRPr lang="en-US" sz="1750" dirty="0"/>
          </a:p>
        </p:txBody>
      </p:sp>
      <p:sp>
        <p:nvSpPr>
          <p:cNvPr id="11" name="Text 9"/>
          <p:cNvSpPr/>
          <p:nvPr/>
        </p:nvSpPr>
        <p:spPr>
          <a:xfrm>
            <a:off x="6895828" y="2741513"/>
            <a:ext cx="1926482" cy="560983"/>
          </a:xfrm>
          <a:prstGeom prst="rect">
            <a:avLst/>
          </a:prstGeom>
          <a:noFill/>
          <a:ln/>
        </p:spPr>
        <p:txBody>
          <a:bodyPr wrap="square" lIns="0" tIns="0" rIns="0" bIns="0" rtlCol="0" anchor="t">
            <a:normAutofit/>
          </a:bodyPr>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Spring Boot + Java 21</a:t>
            </a:r>
            <a:endParaRPr lang="en-US" sz="1750" dirty="0"/>
          </a:p>
        </p:txBody>
      </p:sp>
      <p:sp>
        <p:nvSpPr>
          <p:cNvPr id="12" name="Text 10"/>
          <p:cNvSpPr/>
          <p:nvPr/>
        </p:nvSpPr>
        <p:spPr>
          <a:xfrm>
            <a:off x="6895828" y="3473053"/>
            <a:ext cx="1926482"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Enterprise-grade security, dependency injection, and seamless REST API creation</a:t>
            </a:r>
            <a:endParaRPr lang="en-US" sz="1400" dirty="0"/>
          </a:p>
        </p:txBody>
      </p:sp>
      <p:sp>
        <p:nvSpPr>
          <p:cNvPr id="13" name="Text 11"/>
          <p:cNvSpPr/>
          <p:nvPr/>
        </p:nvSpPr>
        <p:spPr>
          <a:xfrm>
            <a:off x="9610088" y="2741513"/>
            <a:ext cx="1926482" cy="560983"/>
          </a:xfrm>
          <a:prstGeom prst="rect">
            <a:avLst/>
          </a:prstGeom>
          <a:noFill/>
          <a:ln/>
        </p:spPr>
        <p:txBody>
          <a:bodyPr wrap="square" lIns="0" tIns="0" rIns="0" bIns="0" rtlCol="0" anchor="t">
            <a:normAutofit/>
          </a:bodyPr>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MySQL + Spring Data JPA</a:t>
            </a:r>
            <a:endParaRPr lang="en-US" sz="1750" dirty="0"/>
          </a:p>
        </p:txBody>
      </p:sp>
      <p:sp>
        <p:nvSpPr>
          <p:cNvPr id="14" name="Text 12"/>
          <p:cNvSpPr/>
          <p:nvPr/>
        </p:nvSpPr>
        <p:spPr>
          <a:xfrm>
            <a:off x="9610088" y="3473053"/>
            <a:ext cx="1926482"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Production database with in-memory testing support via Hibernate ORM</a:t>
            </a:r>
            <a:endParaRPr lang="en-US" sz="1400" dirty="0"/>
          </a:p>
        </p:txBody>
      </p:sp>
      <p:sp>
        <p:nvSpPr>
          <p:cNvPr id="15" name="Text 13"/>
          <p:cNvSpPr/>
          <p:nvPr/>
        </p:nvSpPr>
        <p:spPr>
          <a:xfrm>
            <a:off x="6895828" y="4996259"/>
            <a:ext cx="4640742" cy="280491"/>
          </a:xfrm>
          <a:prstGeom prst="rect">
            <a:avLst/>
          </a:prstGeom>
          <a:noFill/>
          <a:ln/>
        </p:spPr>
        <p:txBody>
          <a:bodyPr wrap="none" lIns="0" tIns="0" rIns="0" bIns="0" rtlCol="0" anchor="t"/>
          <a:lstStyle/>
          <a:p>
            <a:pPr marL="0" indent="0" algn="l">
              <a:lnSpc>
                <a:spcPct val="104000"/>
              </a:lnSpc>
              <a:buNone/>
            </a:pPr>
            <a:r>
              <a:rPr lang="en-US" sz="1750" b="1" dirty="0">
                <a:solidFill>
                  <a:srgbClr val="DAD1E6"/>
                </a:solidFill>
                <a:latin typeface="Inconsolata Bold" pitchFamily="34" charset="0"/>
                <a:ea typeface="Inconsolata Bold" pitchFamily="34" charset="-122"/>
                <a:cs typeface="Inconsolata Bold" pitchFamily="34" charset="-120"/>
              </a:rPr>
              <a:t>JWT Authentication</a:t>
            </a:r>
            <a:endParaRPr lang="en-US" sz="1750" dirty="0"/>
          </a:p>
        </p:txBody>
      </p:sp>
      <p:sp>
        <p:nvSpPr>
          <p:cNvPr id="16" name="Text 14"/>
          <p:cNvSpPr/>
          <p:nvPr/>
        </p:nvSpPr>
        <p:spPr>
          <a:xfrm>
            <a:off x="6895828" y="5447308"/>
            <a:ext cx="4640742"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DAD1E6"/>
                </a:solidFill>
                <a:latin typeface="Fira Sans" pitchFamily="34" charset="0"/>
                <a:ea typeface="Fira Sans" pitchFamily="34" charset="-122"/>
                <a:cs typeface="Fira Sans" pitchFamily="34" charset="-120"/>
              </a:rPr>
              <a:t>Stateless, secure token-based auth enabling horizontal scalability across all roles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19646"/>
            <a:ext cx="10868745" cy="1004094"/>
          </a:xfrm>
          <a:prstGeom prst="rect">
            <a:avLst/>
          </a:prstGeom>
          <a:noFill/>
          <a:ln/>
        </p:spPr>
        <p:txBody>
          <a:bodyPr wrap="square" lIns="0" tIns="0" rIns="0" bIns="0" rtlCol="0" anchor="t">
            <a:normAutofit/>
          </a:bodyPr>
          <a:lstStyle/>
          <a:p>
            <a:pPr marL="0" indent="0" algn="l">
              <a:lnSpc>
                <a:spcPct val="104000"/>
              </a:lnSpc>
              <a:buNone/>
            </a:pPr>
            <a:r>
              <a:rPr lang="en-US" sz="3150" b="1" dirty="0">
                <a:solidFill>
                  <a:srgbClr val="F94CAF"/>
                </a:solidFill>
                <a:latin typeface="Inconsolata Bold" pitchFamily="34" charset="0"/>
                <a:ea typeface="Inconsolata Bold" pitchFamily="34" charset="-122"/>
                <a:cs typeface="Inconsolata Bold" pitchFamily="34" charset="-120"/>
              </a:rPr>
              <a:t>Role-Based Access Control (RBAC): Three Portal Architecture</a:t>
            </a:r>
            <a:endParaRPr lang="en-US" sz="3150" dirty="0"/>
          </a:p>
        </p:txBody>
      </p:sp>
      <p:sp>
        <p:nvSpPr>
          <p:cNvPr id="3" name="Text 1"/>
          <p:cNvSpPr/>
          <p:nvPr/>
        </p:nvSpPr>
        <p:spPr>
          <a:xfrm>
            <a:off x="661475" y="2096790"/>
            <a:ext cx="10868745"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AD1E6"/>
                </a:solidFill>
                <a:latin typeface="Fira Sans" pitchFamily="34" charset="0"/>
                <a:ea typeface="Fira Sans" pitchFamily="34" charset="-122"/>
                <a:cs typeface="Fira Sans" pitchFamily="34" charset="-120"/>
              </a:rPr>
              <a:t>Strict role-based access is enforced at both the frontend (UI elements shown/hidden by role) and backend (API endpoints validate roles before processing), ensuring security even if frontend controls are bypassed.</a:t>
            </a:r>
            <a:endParaRPr lang="en-US" sz="12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25837"/>
            <a:ext cx="3531901" cy="2343845"/>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30987" y="2870398"/>
            <a:ext cx="192777" cy="192782"/>
          </a:xfrm>
          <a:prstGeom prst="rect">
            <a:avLst/>
          </a:prstGeom>
        </p:spPr>
      </p:pic>
      <p:sp>
        <p:nvSpPr>
          <p:cNvPr id="6" name="Text 2"/>
          <p:cNvSpPr/>
          <p:nvPr/>
        </p:nvSpPr>
        <p:spPr>
          <a:xfrm>
            <a:off x="841156" y="3368477"/>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Employee</a:t>
            </a:r>
            <a:endParaRPr lang="en-US" sz="1550" dirty="0"/>
          </a:p>
        </p:txBody>
      </p:sp>
      <p:sp>
        <p:nvSpPr>
          <p:cNvPr id="7" name="Text 3"/>
          <p:cNvSpPr/>
          <p:nvPr/>
        </p:nvSpPr>
        <p:spPr>
          <a:xfrm>
            <a:off x="841156" y="3701355"/>
            <a:ext cx="3172539"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AD1E6"/>
                </a:solidFill>
                <a:latin typeface="Fira Sans" pitchFamily="34" charset="0"/>
                <a:ea typeface="Fira Sans" pitchFamily="34" charset="-122"/>
                <a:cs typeface="Fira Sans" pitchFamily="34" charset="-120"/>
              </a:rPr>
              <a:t>Browse products, submit requests with justifications, track approval status in real-time, receive notifications, and submit delivery feedback and supplier ratings</a:t>
            </a:r>
            <a:endParaRPr lang="en-US" sz="12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9897" y="2725837"/>
            <a:ext cx="3531901" cy="2343845"/>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9409" y="2870398"/>
            <a:ext cx="192777" cy="192782"/>
          </a:xfrm>
          <a:prstGeom prst="rect">
            <a:avLst/>
          </a:prstGeom>
        </p:spPr>
      </p:pic>
      <p:sp>
        <p:nvSpPr>
          <p:cNvPr id="10" name="Text 4"/>
          <p:cNvSpPr/>
          <p:nvPr/>
        </p:nvSpPr>
        <p:spPr>
          <a:xfrm>
            <a:off x="4509578" y="3368477"/>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Admin</a:t>
            </a:r>
            <a:endParaRPr lang="en-US" sz="1550" dirty="0"/>
          </a:p>
        </p:txBody>
      </p:sp>
      <p:sp>
        <p:nvSpPr>
          <p:cNvPr id="11" name="Text 5"/>
          <p:cNvSpPr/>
          <p:nvPr/>
        </p:nvSpPr>
        <p:spPr>
          <a:xfrm>
            <a:off x="4509578" y="3701355"/>
            <a:ext cx="3172539"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AD1E6"/>
                </a:solidFill>
                <a:latin typeface="Fira Sans" pitchFamily="34" charset="0"/>
                <a:ea typeface="Fira Sans" pitchFamily="34" charset="-122"/>
                <a:cs typeface="Fira Sans" pitchFamily="34" charset="-120"/>
              </a:rPr>
              <a:t>Review requests on a comprehensive dashboard, approve or reject based on budget and justification quality, manage supplier payments, and analyze spend metrics through interactive visualizations</a:t>
            </a:r>
            <a:endParaRPr lang="en-US" sz="12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8319" y="2725837"/>
            <a:ext cx="3531901" cy="2343845"/>
          </a:xfrm>
          <a:prstGeom prst="rect">
            <a:avLst/>
          </a:prstGeom>
        </p:spPr>
      </p:pic>
      <p:pic>
        <p:nvPicPr>
          <p:cNvPr id="13"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67832" y="2870398"/>
            <a:ext cx="192777" cy="192782"/>
          </a:xfrm>
          <a:prstGeom prst="rect">
            <a:avLst/>
          </a:prstGeom>
        </p:spPr>
      </p:pic>
      <p:sp>
        <p:nvSpPr>
          <p:cNvPr id="14" name="Text 6"/>
          <p:cNvSpPr/>
          <p:nvPr/>
        </p:nvSpPr>
        <p:spPr>
          <a:xfrm>
            <a:off x="8178000" y="3368477"/>
            <a:ext cx="3172539" cy="251023"/>
          </a:xfrm>
          <a:prstGeom prst="rect">
            <a:avLst/>
          </a:prstGeom>
          <a:noFill/>
          <a:ln/>
        </p:spPr>
        <p:txBody>
          <a:bodyPr wrap="none" lIns="0" tIns="0" rIns="0" bIns="0" rtlCol="0" anchor="t"/>
          <a:lstStyle/>
          <a:p>
            <a:pPr marL="0" indent="0" algn="l">
              <a:lnSpc>
                <a:spcPct val="104000"/>
              </a:lnSpc>
              <a:buNone/>
            </a:pPr>
            <a:r>
              <a:rPr lang="en-US" sz="1550" b="1" dirty="0">
                <a:solidFill>
                  <a:srgbClr val="DAD1E6"/>
                </a:solidFill>
                <a:latin typeface="Inconsolata Bold" pitchFamily="34" charset="0"/>
                <a:ea typeface="Inconsolata Bold" pitchFamily="34" charset="-122"/>
                <a:cs typeface="Inconsolata Bold" pitchFamily="34" charset="-120"/>
              </a:rPr>
              <a:t>Supplier</a:t>
            </a:r>
            <a:endParaRPr lang="en-US" sz="1550" dirty="0"/>
          </a:p>
        </p:txBody>
      </p:sp>
      <p:sp>
        <p:nvSpPr>
          <p:cNvPr id="15" name="Text 7"/>
          <p:cNvSpPr/>
          <p:nvPr/>
        </p:nvSpPr>
        <p:spPr>
          <a:xfrm>
            <a:off x="8178000" y="3701355"/>
            <a:ext cx="3172539"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AD1E6"/>
                </a:solidFill>
                <a:latin typeface="Fira Sans" pitchFamily="34" charset="0"/>
                <a:ea typeface="Fira Sans" pitchFamily="34" charset="-122"/>
                <a:cs typeface="Fira Sans" pitchFamily="34" charset="-120"/>
              </a:rPr>
              <a:t>Receive and review incoming purchase orders, manage logistics by updating fulfillment and delivery statuses in real-time, and complete the delivery process entirely within the platform</a:t>
            </a:r>
            <a:endParaRPr lang="en-US" sz="1250" dirty="0"/>
          </a:p>
        </p:txBody>
      </p:sp>
      <p:sp>
        <p:nvSpPr>
          <p:cNvPr id="16" name="Shape 8"/>
          <p:cNvSpPr/>
          <p:nvPr/>
        </p:nvSpPr>
        <p:spPr>
          <a:xfrm>
            <a:off x="661475" y="5223272"/>
            <a:ext cx="10868745" cy="814983"/>
          </a:xfrm>
          <a:prstGeom prst="roundRect">
            <a:avLst>
              <a:gd name="adj" fmla="val 2957"/>
            </a:avLst>
          </a:prstGeom>
          <a:solidFill>
            <a:srgbClr val="7B0448"/>
          </a:solidFill>
          <a:ln/>
        </p:spPr>
      </p:sp>
      <p:pic>
        <p:nvPicPr>
          <p:cNvPr id="17" name="Image 6" descr="preencoded.png"/>
          <p:cNvPicPr>
            <a:picLocks noChangeAspect="1"/>
          </p:cNvPicPr>
          <p:nvPr/>
        </p:nvPicPr>
        <p:blipFill>
          <a:blip r:embed="rId7"/>
          <a:stretch>
            <a:fillRect/>
          </a:stretch>
        </p:blipFill>
        <p:spPr>
          <a:xfrm>
            <a:off x="822106" y="5418038"/>
            <a:ext cx="200814" cy="160635"/>
          </a:xfrm>
          <a:prstGeom prst="rect">
            <a:avLst/>
          </a:prstGeom>
        </p:spPr>
      </p:pic>
      <p:sp>
        <p:nvSpPr>
          <p:cNvPr id="18" name="Text 9"/>
          <p:cNvSpPr/>
          <p:nvPr/>
        </p:nvSpPr>
        <p:spPr>
          <a:xfrm>
            <a:off x="1183551" y="5399881"/>
            <a:ext cx="10186038"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Fira Sans" pitchFamily="34" charset="0"/>
                <a:ea typeface="Fira Sans" pitchFamily="34" charset="-122"/>
                <a:cs typeface="Fira Sans" pitchFamily="34" charset="-120"/>
              </a:rPr>
              <a:t>Each role accesses only the data and functions relevant to their responsibilities — enforced by both Spring Security annotations and frontend route guards.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37977"/>
            <a:ext cx="10868745" cy="826889"/>
          </a:xfrm>
          <a:prstGeom prst="rect">
            <a:avLst/>
          </a:prstGeom>
          <a:noFill/>
          <a:ln/>
        </p:spPr>
        <p:txBody>
          <a:bodyPr wrap="square" lIns="0" tIns="0" rIns="0" bIns="0" rtlCol="0" anchor="t">
            <a:normAutofit/>
          </a:bodyPr>
          <a:lstStyle/>
          <a:p>
            <a:pPr marL="0" indent="0" algn="l">
              <a:lnSpc>
                <a:spcPct val="104000"/>
              </a:lnSpc>
              <a:buNone/>
            </a:pPr>
            <a:r>
              <a:rPr lang="en-US" sz="2600" b="1" dirty="0">
                <a:solidFill>
                  <a:srgbClr val="F94CAF"/>
                </a:solidFill>
                <a:latin typeface="Inconsolata Bold" pitchFamily="34" charset="0"/>
                <a:ea typeface="Inconsolata Bold" pitchFamily="34" charset="-122"/>
                <a:cs typeface="Inconsolata Bold" pitchFamily="34" charset="-120"/>
              </a:rPr>
              <a:t>System Architecture: Client-Server Model with Separation of Concerns</a:t>
            </a:r>
            <a:endParaRPr lang="en-US" sz="2600" dirty="0"/>
          </a:p>
        </p:txBody>
      </p:sp>
      <p:pic>
        <p:nvPicPr>
          <p:cNvPr id="3" name="Image 0" descr="preencoded.png"/>
          <p:cNvPicPr>
            <a:picLocks noChangeAspect="1"/>
          </p:cNvPicPr>
          <p:nvPr/>
        </p:nvPicPr>
        <p:blipFill>
          <a:blip r:embed="rId3"/>
          <a:stretch>
            <a:fillRect/>
          </a:stretch>
        </p:blipFill>
        <p:spPr>
          <a:xfrm>
            <a:off x="1452427" y="1707952"/>
            <a:ext cx="3691044" cy="3691136"/>
          </a:xfrm>
          <a:prstGeom prst="rect">
            <a:avLst/>
          </a:prstGeom>
        </p:spPr>
      </p:pic>
      <p:sp>
        <p:nvSpPr>
          <p:cNvPr id="4" name="Text 1"/>
          <p:cNvSpPr/>
          <p:nvPr/>
        </p:nvSpPr>
        <p:spPr>
          <a:xfrm>
            <a:off x="6263523" y="2245221"/>
            <a:ext cx="5273047" cy="206673"/>
          </a:xfrm>
          <a:prstGeom prst="rect">
            <a:avLst/>
          </a:prstGeom>
          <a:noFill/>
          <a:ln/>
        </p:spPr>
        <p:txBody>
          <a:bodyPr wrap="none" lIns="0" tIns="0" rIns="0" bIns="0" rtlCol="0" anchor="t"/>
          <a:lstStyle/>
          <a:p>
            <a:pPr marL="0" indent="0" algn="l">
              <a:lnSpc>
                <a:spcPct val="104000"/>
              </a:lnSpc>
              <a:buNone/>
            </a:pPr>
            <a:r>
              <a:rPr lang="en-US" sz="1300" b="1" dirty="0">
                <a:solidFill>
                  <a:srgbClr val="F94CAF"/>
                </a:solidFill>
                <a:latin typeface="Inconsolata Bold" pitchFamily="34" charset="0"/>
                <a:ea typeface="Inconsolata Bold" pitchFamily="34" charset="-122"/>
                <a:cs typeface="Inconsolata Bold" pitchFamily="34" charset="-120"/>
              </a:rPr>
              <a:t>A Scalable, Maintainable Foundation</a:t>
            </a:r>
            <a:endParaRPr lang="en-US" sz="1300" dirty="0"/>
          </a:p>
        </p:txBody>
      </p:sp>
      <p:sp>
        <p:nvSpPr>
          <p:cNvPr id="5" name="Text 2"/>
          <p:cNvSpPr/>
          <p:nvPr/>
        </p:nvSpPr>
        <p:spPr>
          <a:xfrm>
            <a:off x="6263523" y="2544465"/>
            <a:ext cx="5273047" cy="2326481"/>
          </a:xfrm>
          <a:prstGeom prst="rect">
            <a:avLst/>
          </a:prstGeom>
          <a:noFill/>
          <a:ln/>
        </p:spPr>
        <p:txBody>
          <a:bodyPr wrap="square" lIns="0" tIns="0" rIns="0" bIns="0" rtlCol="0" anchor="t">
            <a:normAutofit/>
          </a:bodyPr>
          <a:lstStyle/>
          <a:p>
            <a:pPr marL="0" indent="0" algn="l">
              <a:lnSpc>
                <a:spcPct val="113000"/>
              </a:lnSpc>
              <a:spcAft>
                <a:spcPts val="650"/>
              </a:spcAft>
              <a:buNone/>
            </a:pPr>
            <a:r>
              <a:rPr lang="en-US" sz="1000" dirty="0">
                <a:solidFill>
                  <a:srgbClr val="DAD1E6"/>
                </a:solidFill>
                <a:latin typeface="Fira Sans" pitchFamily="34" charset="0"/>
                <a:ea typeface="Fira Sans" pitchFamily="34" charset="-122"/>
                <a:cs typeface="Fira Sans" pitchFamily="34" charset="-120"/>
              </a:rPr>
              <a:t>The React frontend runs entirely in the browser and communicates with the backend exclusively through RESTful API endpoints — it never touches the database directly. This clean separation means frontend and backend teams can work independently, and the system can scale horizontally by adding backend servers behind a load balancer without any frontend changes.</a:t>
            </a:r>
            <a:endParaRPr lang="en-US" sz="1000" dirty="0"/>
          </a:p>
          <a:p>
            <a:pPr marL="0" indent="0" algn="l">
              <a:lnSpc>
                <a:spcPct val="113000"/>
              </a:lnSpc>
              <a:spcAft>
                <a:spcPts val="650"/>
              </a:spcAft>
              <a:buNone/>
            </a:pPr>
            <a:r>
              <a:rPr lang="en-US" sz="1000" dirty="0">
                <a:solidFill>
                  <a:srgbClr val="DAD1E6"/>
                </a:solidFill>
                <a:latin typeface="Fira Sans" pitchFamily="34" charset="0"/>
                <a:ea typeface="Fira Sans" pitchFamily="34" charset="-122"/>
                <a:cs typeface="Fira Sans" pitchFamily="34" charset="-120"/>
              </a:rPr>
              <a:t>API calls are abstracted into dedicated service modules within React, keeping components focused on rendering UI rather than managing network logic. All business rules and security checks are centralized in the backend, ensuring consistent enforcement regardless of client.</a:t>
            </a:r>
            <a:endParaRPr lang="en-US" sz="1000" dirty="0"/>
          </a:p>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The decoupled design also enables future extensibility — a mobile application could consume the same backend APIs without any backend modifications, protecting the organization's investment as requirements evolve.</a:t>
            </a:r>
            <a:endParaRPr lang="en-US" sz="1000" dirty="0"/>
          </a:p>
        </p:txBody>
      </p:sp>
      <p:sp>
        <p:nvSpPr>
          <p:cNvPr id="6" name="Text 3"/>
          <p:cNvSpPr/>
          <p:nvPr/>
        </p:nvSpPr>
        <p:spPr>
          <a:xfrm>
            <a:off x="661475" y="5777805"/>
            <a:ext cx="3545791" cy="206673"/>
          </a:xfrm>
          <a:prstGeom prst="rect">
            <a:avLst/>
          </a:prstGeom>
          <a:noFill/>
          <a:ln/>
        </p:spPr>
        <p:txBody>
          <a:bodyPr wrap="none" lIns="0" tIns="0" rIns="0" bIns="0" rtlCol="0" anchor="t"/>
          <a:lstStyle/>
          <a:p>
            <a:pPr marL="0" indent="0" algn="l">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Independent Deployability</a:t>
            </a:r>
            <a:endParaRPr lang="en-US" sz="1300" dirty="0"/>
          </a:p>
        </p:txBody>
      </p:sp>
      <p:sp>
        <p:nvSpPr>
          <p:cNvPr id="7" name="Text 4"/>
          <p:cNvSpPr/>
          <p:nvPr/>
        </p:nvSpPr>
        <p:spPr>
          <a:xfrm>
            <a:off x="661475" y="6040041"/>
            <a:ext cx="3545791" cy="179983"/>
          </a:xfrm>
          <a:prstGeom prst="rect">
            <a:avLst/>
          </a:prstGeom>
          <a:noFill/>
          <a:ln/>
        </p:spPr>
        <p:txBody>
          <a:bodyPr wrap="none" lIns="0" tIns="0" rIns="0" bIns="0" rtlCol="0" anchor="t"/>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Frontend updates without backend changes and vice versa</a:t>
            </a:r>
            <a:endParaRPr lang="en-US" sz="1000" dirty="0"/>
          </a:p>
        </p:txBody>
      </p:sp>
      <p:sp>
        <p:nvSpPr>
          <p:cNvPr id="8" name="Text 5"/>
          <p:cNvSpPr/>
          <p:nvPr/>
        </p:nvSpPr>
        <p:spPr>
          <a:xfrm>
            <a:off x="4322952" y="5777805"/>
            <a:ext cx="3545791" cy="206673"/>
          </a:xfrm>
          <a:prstGeom prst="rect">
            <a:avLst/>
          </a:prstGeom>
          <a:noFill/>
          <a:ln/>
        </p:spPr>
        <p:txBody>
          <a:bodyPr wrap="none" lIns="0" tIns="0" rIns="0" bIns="0" rtlCol="0" anchor="t"/>
          <a:lstStyle/>
          <a:p>
            <a:pPr marL="0" indent="0" algn="l">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Centralized Security</a:t>
            </a:r>
            <a:endParaRPr lang="en-US" sz="1300" dirty="0"/>
          </a:p>
        </p:txBody>
      </p:sp>
      <p:sp>
        <p:nvSpPr>
          <p:cNvPr id="9" name="Text 6"/>
          <p:cNvSpPr/>
          <p:nvPr/>
        </p:nvSpPr>
        <p:spPr>
          <a:xfrm>
            <a:off x="4322952" y="6040041"/>
            <a:ext cx="3545791" cy="179983"/>
          </a:xfrm>
          <a:prstGeom prst="rect">
            <a:avLst/>
          </a:prstGeom>
          <a:noFill/>
          <a:ln/>
        </p:spPr>
        <p:txBody>
          <a:bodyPr wrap="none" lIns="0" tIns="0" rIns="0" bIns="0" rtlCol="0" anchor="t"/>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All authorization enforced in one place — the backend</a:t>
            </a:r>
            <a:endParaRPr lang="en-US" sz="1000" dirty="0"/>
          </a:p>
        </p:txBody>
      </p:sp>
      <p:sp>
        <p:nvSpPr>
          <p:cNvPr id="10" name="Text 7"/>
          <p:cNvSpPr/>
          <p:nvPr/>
        </p:nvSpPr>
        <p:spPr>
          <a:xfrm>
            <a:off x="7984429" y="5777805"/>
            <a:ext cx="3545791" cy="206673"/>
          </a:xfrm>
          <a:prstGeom prst="rect">
            <a:avLst/>
          </a:prstGeom>
          <a:noFill/>
          <a:ln/>
        </p:spPr>
        <p:txBody>
          <a:bodyPr wrap="none" lIns="0" tIns="0" rIns="0" bIns="0" rtlCol="0" anchor="t"/>
          <a:lstStyle/>
          <a:p>
            <a:pPr marL="0" indent="0" algn="l">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Future-Ready</a:t>
            </a:r>
            <a:endParaRPr lang="en-US" sz="1300" dirty="0"/>
          </a:p>
        </p:txBody>
      </p:sp>
      <p:sp>
        <p:nvSpPr>
          <p:cNvPr id="11" name="Text 8"/>
          <p:cNvSpPr/>
          <p:nvPr/>
        </p:nvSpPr>
        <p:spPr>
          <a:xfrm>
            <a:off x="7984429" y="6040041"/>
            <a:ext cx="3545791" cy="179983"/>
          </a:xfrm>
          <a:prstGeom prst="rect">
            <a:avLst/>
          </a:prstGeom>
          <a:noFill/>
          <a:ln/>
        </p:spPr>
        <p:txBody>
          <a:bodyPr wrap="none" lIns="0" tIns="0" rIns="0" bIns="0" rtlCol="0" anchor="t"/>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Mobile or third-party clients can integrate via existing APIs</a:t>
            </a:r>
            <a:endParaRPr lang="en-US" sz="1000" dirty="0"/>
          </a:p>
        </p:txBody>
      </p:sp>
      <p:sp>
        <p:nvSpPr>
          <p:cNvPr id="12" name="Shape 9"/>
          <p:cNvSpPr/>
          <p:nvPr/>
        </p:nvSpPr>
        <p:spPr>
          <a:xfrm>
            <a:off x="642425" y="5607447"/>
            <a:ext cx="3583890" cy="38100"/>
          </a:xfrm>
          <a:prstGeom prst="rect">
            <a:avLst/>
          </a:prstGeom>
          <a:solidFill>
            <a:srgbClr val="FF6680"/>
          </a:solidFill>
          <a:ln/>
        </p:spPr>
      </p:sp>
      <p:sp>
        <p:nvSpPr>
          <p:cNvPr id="13" name="Shape 10"/>
          <p:cNvSpPr/>
          <p:nvPr/>
        </p:nvSpPr>
        <p:spPr>
          <a:xfrm>
            <a:off x="4303902" y="5607447"/>
            <a:ext cx="3583890" cy="38100"/>
          </a:xfrm>
          <a:prstGeom prst="rect">
            <a:avLst/>
          </a:prstGeom>
          <a:solidFill>
            <a:srgbClr val="FF6680"/>
          </a:solidFill>
          <a:ln/>
        </p:spPr>
      </p:sp>
      <p:sp>
        <p:nvSpPr>
          <p:cNvPr id="14" name="Shape 11"/>
          <p:cNvSpPr/>
          <p:nvPr/>
        </p:nvSpPr>
        <p:spPr>
          <a:xfrm>
            <a:off x="7965380" y="5607447"/>
            <a:ext cx="3583890" cy="38100"/>
          </a:xfrm>
          <a:prstGeom prst="rect">
            <a:avLst/>
          </a:prstGeom>
          <a:solidFill>
            <a:srgbClr val="FF668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39651"/>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Procurement Workflow:</a:t>
            </a:r>
            <a:endParaRPr lang="en-US" sz="2750" dirty="0"/>
          </a:p>
        </p:txBody>
      </p:sp>
      <p:sp>
        <p:nvSpPr>
          <p:cNvPr id="9" name="Text 6"/>
          <p:cNvSpPr/>
          <p:nvPr/>
        </p:nvSpPr>
        <p:spPr>
          <a:xfrm>
            <a:off x="661475" y="5921474"/>
            <a:ext cx="10868745"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Complete workflow cycle: an employee submits a request, the admin reviews it, approves or rejects the order, processes payment when approved, sends the order to the supplier for fulfillment, and the employee provides feedback after delivery.</a:t>
            </a:r>
            <a:endParaRPr lang="en-US" sz="1100" dirty="0"/>
          </a:p>
        </p:txBody>
      </p:sp>
      <p:pic>
        <p:nvPicPr>
          <p:cNvPr id="15" name="Picture 14">
            <a:extLst>
              <a:ext uri="{FF2B5EF4-FFF2-40B4-BE49-F238E27FC236}">
                <a16:creationId xmlns:a16="http://schemas.microsoft.com/office/drawing/2014/main" id="{CAA5A422-3C89-6708-3BC7-067FEB678EBF}"/>
              </a:ext>
            </a:extLst>
          </p:cNvPr>
          <p:cNvPicPr>
            <a:picLocks noChangeAspect="1"/>
          </p:cNvPicPr>
          <p:nvPr/>
        </p:nvPicPr>
        <p:blipFill>
          <a:blip r:embed="rId3"/>
          <a:stretch>
            <a:fillRect/>
          </a:stretch>
        </p:blipFill>
        <p:spPr>
          <a:xfrm>
            <a:off x="1463198" y="1397618"/>
            <a:ext cx="9265298" cy="34744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48580"/>
            <a:ext cx="10868745" cy="329902"/>
          </a:xfrm>
          <a:prstGeom prst="rect">
            <a:avLst/>
          </a:prstGeom>
          <a:noFill/>
          <a:ln/>
        </p:spPr>
        <p:txBody>
          <a:bodyPr wrap="none" lIns="0" tIns="0" rIns="0" bIns="0" rtlCol="0" anchor="t"/>
          <a:lstStyle/>
          <a:p>
            <a:pPr marL="0" indent="0" algn="l">
              <a:lnSpc>
                <a:spcPct val="104000"/>
              </a:lnSpc>
              <a:buNone/>
            </a:pPr>
            <a:r>
              <a:rPr lang="en-US" sz="2050" b="1" dirty="0">
                <a:solidFill>
                  <a:srgbClr val="F94CAF"/>
                </a:solidFill>
                <a:latin typeface="Inconsolata Bold" pitchFamily="34" charset="0"/>
                <a:ea typeface="Inconsolata Bold" pitchFamily="34" charset="-122"/>
                <a:cs typeface="Inconsolata Bold" pitchFamily="34" charset="-120"/>
              </a:rPr>
              <a:t>Admin &amp; Supplier Workflow: Access &amp; Operations</a:t>
            </a:r>
            <a:endParaRPr lang="en-US" sz="2050" dirty="0"/>
          </a:p>
        </p:txBody>
      </p:sp>
      <p:sp>
        <p:nvSpPr>
          <p:cNvPr id="3" name="Text 1"/>
          <p:cNvSpPr/>
          <p:nvPr/>
        </p:nvSpPr>
        <p:spPr>
          <a:xfrm>
            <a:off x="661475" y="1025823"/>
            <a:ext cx="5305590" cy="164902"/>
          </a:xfrm>
          <a:prstGeom prst="rect">
            <a:avLst/>
          </a:prstGeom>
          <a:noFill/>
          <a:ln/>
        </p:spPr>
        <p:txBody>
          <a:bodyPr wrap="none" lIns="0" tIns="0" rIns="0" bIns="0" rtlCol="0" anchor="t"/>
          <a:lstStyle/>
          <a:p>
            <a:pPr marL="0" indent="0" algn="l">
              <a:lnSpc>
                <a:spcPct val="104000"/>
              </a:lnSpc>
              <a:buNone/>
            </a:pPr>
            <a:r>
              <a:rPr lang="en-US" sz="1000" b="1" dirty="0">
                <a:solidFill>
                  <a:srgbClr val="F94CAF"/>
                </a:solidFill>
                <a:latin typeface="Inconsolata Bold" pitchFamily="34" charset="0"/>
                <a:ea typeface="Inconsolata Bold" pitchFamily="34" charset="-122"/>
                <a:cs typeface="Inconsolata Bold" pitchFamily="34" charset="-120"/>
              </a:rPr>
              <a:t>Admin Portal Flow</a:t>
            </a:r>
            <a:endParaRPr lang="en-US" sz="1000" dirty="0"/>
          </a:p>
        </p:txBody>
      </p:sp>
      <p:sp>
        <p:nvSpPr>
          <p:cNvPr id="4" name="Shape 2"/>
          <p:cNvSpPr/>
          <p:nvPr/>
        </p:nvSpPr>
        <p:spPr>
          <a:xfrm>
            <a:off x="661475" y="1257002"/>
            <a:ext cx="422264" cy="633512"/>
          </a:xfrm>
          <a:prstGeom prst="roundRect">
            <a:avLst>
              <a:gd name="adj" fmla="val 50000"/>
            </a:avLst>
          </a:prstGeom>
          <a:solidFill>
            <a:srgbClr val="433550"/>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432" y="1494532"/>
            <a:ext cx="158349" cy="158353"/>
          </a:xfrm>
          <a:prstGeom prst="rect">
            <a:avLst/>
          </a:prstGeom>
        </p:spPr>
      </p:pic>
      <p:sp>
        <p:nvSpPr>
          <p:cNvPr id="6" name="Text 3"/>
          <p:cNvSpPr/>
          <p:nvPr/>
        </p:nvSpPr>
        <p:spPr>
          <a:xfrm>
            <a:off x="1142674" y="1362571"/>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Admin logs in</a:t>
            </a:r>
            <a:endParaRPr lang="en-US" sz="800" dirty="0"/>
          </a:p>
        </p:txBody>
      </p:sp>
      <p:sp>
        <p:nvSpPr>
          <p:cNvPr id="7" name="Shape 4"/>
          <p:cNvSpPr/>
          <p:nvPr/>
        </p:nvSpPr>
        <p:spPr>
          <a:xfrm>
            <a:off x="661475" y="1949450"/>
            <a:ext cx="422264" cy="633512"/>
          </a:xfrm>
          <a:prstGeom prst="roundRect">
            <a:avLst>
              <a:gd name="adj" fmla="val 50000"/>
            </a:avLst>
          </a:prstGeom>
          <a:solidFill>
            <a:srgbClr val="433550"/>
          </a:solidFill>
          <a:ln/>
        </p:spPr>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3432" y="2186980"/>
            <a:ext cx="158349" cy="158353"/>
          </a:xfrm>
          <a:prstGeom prst="rect">
            <a:avLst/>
          </a:prstGeom>
        </p:spPr>
      </p:pic>
      <p:sp>
        <p:nvSpPr>
          <p:cNvPr id="9" name="Text 5"/>
          <p:cNvSpPr/>
          <p:nvPr/>
        </p:nvSpPr>
        <p:spPr>
          <a:xfrm>
            <a:off x="1142674" y="2055019"/>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Dashboard (overview of all activity)</a:t>
            </a:r>
            <a:endParaRPr lang="en-US" sz="800" dirty="0"/>
          </a:p>
        </p:txBody>
      </p:sp>
      <p:sp>
        <p:nvSpPr>
          <p:cNvPr id="10" name="Shape 6"/>
          <p:cNvSpPr/>
          <p:nvPr/>
        </p:nvSpPr>
        <p:spPr>
          <a:xfrm>
            <a:off x="661475" y="2641898"/>
            <a:ext cx="422264" cy="633512"/>
          </a:xfrm>
          <a:prstGeom prst="roundRect">
            <a:avLst>
              <a:gd name="adj" fmla="val 50000"/>
            </a:avLst>
          </a:prstGeom>
          <a:solidFill>
            <a:srgbClr val="433550"/>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432" y="2879427"/>
            <a:ext cx="158349" cy="158353"/>
          </a:xfrm>
          <a:prstGeom prst="rect">
            <a:avLst/>
          </a:prstGeom>
        </p:spPr>
      </p:pic>
      <p:sp>
        <p:nvSpPr>
          <p:cNvPr id="12" name="Text 7"/>
          <p:cNvSpPr/>
          <p:nvPr/>
        </p:nvSpPr>
        <p:spPr>
          <a:xfrm>
            <a:off x="1142674" y="2747466"/>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Can navigate to: Requests: Review employee requests, approve or reject</a:t>
            </a:r>
            <a:endParaRPr lang="en-US" sz="800" dirty="0"/>
          </a:p>
        </p:txBody>
      </p:sp>
      <p:sp>
        <p:nvSpPr>
          <p:cNvPr id="13" name="Shape 8"/>
          <p:cNvSpPr/>
          <p:nvPr/>
        </p:nvSpPr>
        <p:spPr>
          <a:xfrm>
            <a:off x="661475" y="3334345"/>
            <a:ext cx="422264" cy="633512"/>
          </a:xfrm>
          <a:prstGeom prst="roundRect">
            <a:avLst>
              <a:gd name="adj" fmla="val 50000"/>
            </a:avLst>
          </a:prstGeom>
          <a:solidFill>
            <a:srgbClr val="433550"/>
          </a:solidFill>
          <a:ln/>
        </p:spPr>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3432" y="3571875"/>
            <a:ext cx="158349" cy="158353"/>
          </a:xfrm>
          <a:prstGeom prst="rect">
            <a:avLst/>
          </a:prstGeom>
        </p:spPr>
      </p:pic>
      <p:sp>
        <p:nvSpPr>
          <p:cNvPr id="15" name="Text 9"/>
          <p:cNvSpPr/>
          <p:nvPr/>
        </p:nvSpPr>
        <p:spPr>
          <a:xfrm>
            <a:off x="1142674" y="3439914"/>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Payments: Process payments to suppliers for approved orders</a:t>
            </a:r>
            <a:endParaRPr lang="en-US" sz="800" dirty="0"/>
          </a:p>
        </p:txBody>
      </p:sp>
      <p:sp>
        <p:nvSpPr>
          <p:cNvPr id="16" name="Shape 10"/>
          <p:cNvSpPr/>
          <p:nvPr/>
        </p:nvSpPr>
        <p:spPr>
          <a:xfrm>
            <a:off x="661475" y="4026793"/>
            <a:ext cx="422264" cy="633512"/>
          </a:xfrm>
          <a:prstGeom prst="roundRect">
            <a:avLst>
              <a:gd name="adj" fmla="val 50000"/>
            </a:avLst>
          </a:prstGeom>
          <a:solidFill>
            <a:srgbClr val="433550"/>
          </a:solidFill>
          <a:ln/>
        </p:spPr>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3432" y="4264323"/>
            <a:ext cx="158349" cy="158353"/>
          </a:xfrm>
          <a:prstGeom prst="rect">
            <a:avLst/>
          </a:prstGeom>
        </p:spPr>
      </p:pic>
      <p:sp>
        <p:nvSpPr>
          <p:cNvPr id="18" name="Text 11"/>
          <p:cNvSpPr/>
          <p:nvPr/>
        </p:nvSpPr>
        <p:spPr>
          <a:xfrm>
            <a:off x="1142674" y="4132362"/>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Departments: View department information and budgets</a:t>
            </a:r>
            <a:endParaRPr lang="en-US" sz="800" dirty="0"/>
          </a:p>
        </p:txBody>
      </p:sp>
      <p:sp>
        <p:nvSpPr>
          <p:cNvPr id="19" name="Shape 12"/>
          <p:cNvSpPr/>
          <p:nvPr/>
        </p:nvSpPr>
        <p:spPr>
          <a:xfrm>
            <a:off x="661475" y="4719241"/>
            <a:ext cx="422264" cy="633512"/>
          </a:xfrm>
          <a:prstGeom prst="roundRect">
            <a:avLst>
              <a:gd name="adj" fmla="val 50000"/>
            </a:avLst>
          </a:prstGeom>
          <a:solidFill>
            <a:srgbClr val="433550"/>
          </a:solidFill>
          <a:ln/>
        </p:spPr>
      </p:sp>
      <p:pic>
        <p:nvPicPr>
          <p:cNvPr id="2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3432" y="4956770"/>
            <a:ext cx="158349" cy="158353"/>
          </a:xfrm>
          <a:prstGeom prst="rect">
            <a:avLst/>
          </a:prstGeom>
        </p:spPr>
      </p:pic>
      <p:sp>
        <p:nvSpPr>
          <p:cNvPr id="21" name="Text 13"/>
          <p:cNvSpPr/>
          <p:nvPr/>
        </p:nvSpPr>
        <p:spPr>
          <a:xfrm>
            <a:off x="1142674" y="4824809"/>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Suppliers: Manage supplier details and performance</a:t>
            </a:r>
            <a:endParaRPr lang="en-US" sz="800" dirty="0"/>
          </a:p>
        </p:txBody>
      </p:sp>
      <p:sp>
        <p:nvSpPr>
          <p:cNvPr id="22" name="Shape 14"/>
          <p:cNvSpPr/>
          <p:nvPr/>
        </p:nvSpPr>
        <p:spPr>
          <a:xfrm>
            <a:off x="661475" y="5411688"/>
            <a:ext cx="422264" cy="633512"/>
          </a:xfrm>
          <a:prstGeom prst="roundRect">
            <a:avLst>
              <a:gd name="adj" fmla="val 50000"/>
            </a:avLst>
          </a:prstGeom>
          <a:solidFill>
            <a:srgbClr val="433550"/>
          </a:solidFill>
          <a:ln/>
        </p:spPr>
      </p:sp>
      <p:pic>
        <p:nvPicPr>
          <p:cNvPr id="2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3432" y="5649218"/>
            <a:ext cx="158349" cy="158353"/>
          </a:xfrm>
          <a:prstGeom prst="rect">
            <a:avLst/>
          </a:prstGeom>
        </p:spPr>
      </p:pic>
      <p:sp>
        <p:nvSpPr>
          <p:cNvPr id="24" name="Text 15"/>
          <p:cNvSpPr/>
          <p:nvPr/>
        </p:nvSpPr>
        <p:spPr>
          <a:xfrm>
            <a:off x="1142674" y="5517257"/>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Notifications: Receive real-time updates on all system activities</a:t>
            </a:r>
            <a:endParaRPr lang="en-US" sz="800" dirty="0"/>
          </a:p>
        </p:txBody>
      </p:sp>
      <p:sp>
        <p:nvSpPr>
          <p:cNvPr id="25" name="Text 16"/>
          <p:cNvSpPr/>
          <p:nvPr/>
        </p:nvSpPr>
        <p:spPr>
          <a:xfrm>
            <a:off x="6230980" y="1025823"/>
            <a:ext cx="5305590" cy="164902"/>
          </a:xfrm>
          <a:prstGeom prst="rect">
            <a:avLst/>
          </a:prstGeom>
          <a:noFill/>
          <a:ln/>
        </p:spPr>
        <p:txBody>
          <a:bodyPr wrap="none" lIns="0" tIns="0" rIns="0" bIns="0" rtlCol="0" anchor="t"/>
          <a:lstStyle/>
          <a:p>
            <a:pPr marL="0" indent="0" algn="l">
              <a:lnSpc>
                <a:spcPct val="104000"/>
              </a:lnSpc>
              <a:buNone/>
            </a:pPr>
            <a:r>
              <a:rPr lang="en-US" sz="1000" b="1" dirty="0">
                <a:solidFill>
                  <a:srgbClr val="F94CAF"/>
                </a:solidFill>
                <a:latin typeface="Inconsolata Bold" pitchFamily="34" charset="0"/>
                <a:ea typeface="Inconsolata Bold" pitchFamily="34" charset="-122"/>
                <a:cs typeface="Inconsolata Bold" pitchFamily="34" charset="-120"/>
              </a:rPr>
              <a:t>Supplier Portal Flow</a:t>
            </a:r>
            <a:endParaRPr lang="en-US" sz="1000" dirty="0"/>
          </a:p>
        </p:txBody>
      </p:sp>
      <p:sp>
        <p:nvSpPr>
          <p:cNvPr id="26" name="Shape 17"/>
          <p:cNvSpPr/>
          <p:nvPr/>
        </p:nvSpPr>
        <p:spPr>
          <a:xfrm>
            <a:off x="6230980" y="1257002"/>
            <a:ext cx="422264" cy="633512"/>
          </a:xfrm>
          <a:prstGeom prst="roundRect">
            <a:avLst>
              <a:gd name="adj" fmla="val 50000"/>
            </a:avLst>
          </a:prstGeom>
          <a:solidFill>
            <a:srgbClr val="433550"/>
          </a:solidFill>
          <a:ln/>
        </p:spPr>
      </p:sp>
      <p:pic>
        <p:nvPicPr>
          <p:cNvPr id="2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62938" y="1494532"/>
            <a:ext cx="158349" cy="158353"/>
          </a:xfrm>
          <a:prstGeom prst="rect">
            <a:avLst/>
          </a:prstGeom>
        </p:spPr>
      </p:pic>
      <p:sp>
        <p:nvSpPr>
          <p:cNvPr id="28" name="Text 18"/>
          <p:cNvSpPr/>
          <p:nvPr/>
        </p:nvSpPr>
        <p:spPr>
          <a:xfrm>
            <a:off x="6712179" y="1362571"/>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Supplier logs in</a:t>
            </a:r>
            <a:endParaRPr lang="en-US" sz="800" dirty="0"/>
          </a:p>
        </p:txBody>
      </p:sp>
      <p:sp>
        <p:nvSpPr>
          <p:cNvPr id="29" name="Shape 19"/>
          <p:cNvSpPr/>
          <p:nvPr/>
        </p:nvSpPr>
        <p:spPr>
          <a:xfrm>
            <a:off x="6230980" y="1949450"/>
            <a:ext cx="422264" cy="633512"/>
          </a:xfrm>
          <a:prstGeom prst="roundRect">
            <a:avLst>
              <a:gd name="adj" fmla="val 50000"/>
            </a:avLst>
          </a:prstGeom>
          <a:solidFill>
            <a:srgbClr val="433550"/>
          </a:solidFill>
          <a:ln/>
        </p:spPr>
      </p:sp>
      <p:pic>
        <p:nvPicPr>
          <p:cNvPr id="3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62938" y="2186980"/>
            <a:ext cx="158349" cy="158353"/>
          </a:xfrm>
          <a:prstGeom prst="rect">
            <a:avLst/>
          </a:prstGeom>
        </p:spPr>
      </p:pic>
      <p:sp>
        <p:nvSpPr>
          <p:cNvPr id="31" name="Text 20"/>
          <p:cNvSpPr/>
          <p:nvPr/>
        </p:nvSpPr>
        <p:spPr>
          <a:xfrm>
            <a:off x="6712179" y="2055019"/>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Dashboard (incoming orders)</a:t>
            </a:r>
            <a:endParaRPr lang="en-US" sz="800" dirty="0"/>
          </a:p>
        </p:txBody>
      </p:sp>
      <p:sp>
        <p:nvSpPr>
          <p:cNvPr id="32" name="Shape 21"/>
          <p:cNvSpPr/>
          <p:nvPr/>
        </p:nvSpPr>
        <p:spPr>
          <a:xfrm>
            <a:off x="6230980" y="2641898"/>
            <a:ext cx="422264" cy="633512"/>
          </a:xfrm>
          <a:prstGeom prst="roundRect">
            <a:avLst>
              <a:gd name="adj" fmla="val 50000"/>
            </a:avLst>
          </a:prstGeom>
          <a:solidFill>
            <a:srgbClr val="433550"/>
          </a:solidFill>
          <a:ln/>
        </p:spPr>
      </p:sp>
      <p:pic>
        <p:nvPicPr>
          <p:cNvPr id="3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62938" y="2879427"/>
            <a:ext cx="158349" cy="158353"/>
          </a:xfrm>
          <a:prstGeom prst="rect">
            <a:avLst/>
          </a:prstGeom>
        </p:spPr>
      </p:pic>
      <p:sp>
        <p:nvSpPr>
          <p:cNvPr id="34" name="Text 22"/>
          <p:cNvSpPr/>
          <p:nvPr/>
        </p:nvSpPr>
        <p:spPr>
          <a:xfrm>
            <a:off x="6712179" y="2747466"/>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Can navigate to: My Orders: View all assigned purchase orders with details</a:t>
            </a:r>
            <a:endParaRPr lang="en-US" sz="800" dirty="0"/>
          </a:p>
        </p:txBody>
      </p:sp>
      <p:sp>
        <p:nvSpPr>
          <p:cNvPr id="35" name="Shape 23"/>
          <p:cNvSpPr/>
          <p:nvPr/>
        </p:nvSpPr>
        <p:spPr>
          <a:xfrm>
            <a:off x="6230980" y="3334345"/>
            <a:ext cx="422264" cy="633512"/>
          </a:xfrm>
          <a:prstGeom prst="roundRect">
            <a:avLst>
              <a:gd name="adj" fmla="val 50000"/>
            </a:avLst>
          </a:prstGeom>
          <a:solidFill>
            <a:srgbClr val="433550"/>
          </a:solidFill>
          <a:ln/>
        </p:spPr>
      </p:sp>
      <p:pic>
        <p:nvPicPr>
          <p:cNvPr id="36"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62938" y="3571875"/>
            <a:ext cx="158349" cy="158353"/>
          </a:xfrm>
          <a:prstGeom prst="rect">
            <a:avLst/>
          </a:prstGeom>
        </p:spPr>
      </p:pic>
      <p:sp>
        <p:nvSpPr>
          <p:cNvPr id="37" name="Text 24"/>
          <p:cNvSpPr/>
          <p:nvPr/>
        </p:nvSpPr>
        <p:spPr>
          <a:xfrm>
            <a:off x="6712179" y="3439914"/>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Order Status: Update fulfillment status (In Fulfillment, In Transit, Delivered)</a:t>
            </a:r>
            <a:endParaRPr lang="en-US" sz="800" dirty="0"/>
          </a:p>
        </p:txBody>
      </p:sp>
      <p:sp>
        <p:nvSpPr>
          <p:cNvPr id="38" name="Shape 25"/>
          <p:cNvSpPr/>
          <p:nvPr/>
        </p:nvSpPr>
        <p:spPr>
          <a:xfrm>
            <a:off x="6230980" y="4026793"/>
            <a:ext cx="422264" cy="633512"/>
          </a:xfrm>
          <a:prstGeom prst="roundRect">
            <a:avLst>
              <a:gd name="adj" fmla="val 50000"/>
            </a:avLst>
          </a:prstGeom>
          <a:solidFill>
            <a:srgbClr val="433550"/>
          </a:solidFill>
          <a:ln/>
        </p:spPr>
      </p:sp>
      <p:pic>
        <p:nvPicPr>
          <p:cNvPr id="39" name="Image 11"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62938" y="4264323"/>
            <a:ext cx="158349" cy="158353"/>
          </a:xfrm>
          <a:prstGeom prst="rect">
            <a:avLst/>
          </a:prstGeom>
        </p:spPr>
      </p:pic>
      <p:sp>
        <p:nvSpPr>
          <p:cNvPr id="40" name="Text 26"/>
          <p:cNvSpPr/>
          <p:nvPr/>
        </p:nvSpPr>
        <p:spPr>
          <a:xfrm>
            <a:off x="6712179" y="4132362"/>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Payments: Track payments received for completed orders</a:t>
            </a:r>
            <a:endParaRPr lang="en-US" sz="800" dirty="0"/>
          </a:p>
        </p:txBody>
      </p:sp>
      <p:sp>
        <p:nvSpPr>
          <p:cNvPr id="41" name="Shape 27"/>
          <p:cNvSpPr/>
          <p:nvPr/>
        </p:nvSpPr>
        <p:spPr>
          <a:xfrm>
            <a:off x="6230980" y="4719241"/>
            <a:ext cx="422264" cy="633512"/>
          </a:xfrm>
          <a:prstGeom prst="roundRect">
            <a:avLst>
              <a:gd name="adj" fmla="val 50000"/>
            </a:avLst>
          </a:prstGeom>
          <a:solidFill>
            <a:srgbClr val="433550"/>
          </a:solidFill>
          <a:ln/>
        </p:spPr>
      </p:sp>
      <p:pic>
        <p:nvPicPr>
          <p:cNvPr id="42" name="Image 12"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362938" y="4956770"/>
            <a:ext cx="158349" cy="158353"/>
          </a:xfrm>
          <a:prstGeom prst="rect">
            <a:avLst/>
          </a:prstGeom>
        </p:spPr>
      </p:pic>
      <p:sp>
        <p:nvSpPr>
          <p:cNvPr id="43" name="Text 28"/>
          <p:cNvSpPr/>
          <p:nvPr/>
        </p:nvSpPr>
        <p:spPr>
          <a:xfrm>
            <a:off x="6712179" y="4824809"/>
            <a:ext cx="4824391"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Performance: View delivery metrics and employee feedback ratings</a:t>
            </a:r>
            <a:endParaRPr lang="en-US" sz="800" dirty="0"/>
          </a:p>
        </p:txBody>
      </p:sp>
      <p:sp>
        <p:nvSpPr>
          <p:cNvPr id="44" name="Text 29"/>
          <p:cNvSpPr/>
          <p:nvPr/>
        </p:nvSpPr>
        <p:spPr>
          <a:xfrm>
            <a:off x="661475" y="6177756"/>
            <a:ext cx="11478330" cy="131564"/>
          </a:xfrm>
          <a:prstGeom prst="rect">
            <a:avLst/>
          </a:prstGeom>
          <a:noFill/>
          <a:ln/>
        </p:spPr>
        <p:txBody>
          <a:bodyPr wrap="none" lIns="0" tIns="0" rIns="0" bIns="0" rtlCol="0" anchor="t"/>
          <a:lstStyle/>
          <a:p>
            <a:pPr marL="0" indent="0" algn="l">
              <a:lnSpc>
                <a:spcPct val="104000"/>
              </a:lnSpc>
              <a:buNone/>
            </a:pPr>
            <a:r>
              <a:rPr lang="en-US" sz="800" dirty="0">
                <a:solidFill>
                  <a:srgbClr val="DAD1E6"/>
                </a:solidFill>
                <a:latin typeface="Fira Sans" pitchFamily="34" charset="0"/>
                <a:ea typeface="Fira Sans" pitchFamily="34" charset="-122"/>
                <a:cs typeface="Fira Sans" pitchFamily="34" charset="-120"/>
              </a:rPr>
              <a:t>Both roles have restricted access—admins cannot create purchase requests, suppliers cannot modify order terms. All actions are logged and auditable.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20204"/>
            <a:ext cx="10868745" cy="335955"/>
          </a:xfrm>
          <a:prstGeom prst="rect">
            <a:avLst/>
          </a:prstGeom>
          <a:noFill/>
          <a:ln/>
        </p:spPr>
        <p:txBody>
          <a:bodyPr wrap="none" lIns="0" tIns="0" rIns="0" bIns="0" rtlCol="0" anchor="t"/>
          <a:lstStyle/>
          <a:p>
            <a:pPr marL="0" indent="0" algn="l">
              <a:lnSpc>
                <a:spcPct val="104000"/>
              </a:lnSpc>
              <a:buNone/>
            </a:pPr>
            <a:r>
              <a:rPr lang="en-US" sz="2100" b="1" dirty="0">
                <a:solidFill>
                  <a:srgbClr val="F94CAF"/>
                </a:solidFill>
                <a:latin typeface="Inconsolata Bold" pitchFamily="34" charset="0"/>
                <a:ea typeface="Inconsolata Bold" pitchFamily="34" charset="-122"/>
                <a:cs typeface="Inconsolata Bold" pitchFamily="34" charset="-120"/>
              </a:rPr>
              <a:t>Employee Portal Workflow: Request to Feedback</a:t>
            </a:r>
            <a:endParaRPr lang="en-US" sz="2100" dirty="0"/>
          </a:p>
        </p:txBody>
      </p:sp>
      <p:sp>
        <p:nvSpPr>
          <p:cNvPr id="3" name="Text 1"/>
          <p:cNvSpPr/>
          <p:nvPr/>
        </p:nvSpPr>
        <p:spPr>
          <a:xfrm>
            <a:off x="661475" y="880566"/>
            <a:ext cx="10868745" cy="167878"/>
          </a:xfrm>
          <a:prstGeom prst="rect">
            <a:avLst/>
          </a:prstGeom>
          <a:noFill/>
          <a:ln/>
        </p:spPr>
        <p:txBody>
          <a:bodyPr wrap="none" lIns="0" tIns="0" rIns="0" bIns="0" rtlCol="0" anchor="t"/>
          <a:lstStyle/>
          <a:p>
            <a:pPr marL="0" indent="0" algn="l">
              <a:lnSpc>
                <a:spcPct val="104000"/>
              </a:lnSpc>
              <a:buNone/>
            </a:pPr>
            <a:r>
              <a:rPr lang="en-US" sz="1050" b="1" dirty="0">
                <a:solidFill>
                  <a:srgbClr val="F94CAF"/>
                </a:solidFill>
                <a:latin typeface="Inconsolata Bold" pitchFamily="34" charset="0"/>
                <a:ea typeface="Inconsolata Bold" pitchFamily="34" charset="-122"/>
                <a:cs typeface="Inconsolata Bold" pitchFamily="34" charset="-120"/>
              </a:rPr>
              <a:t>Employee Portal Flow:</a:t>
            </a:r>
            <a:endParaRPr lang="en-US" sz="1050" dirty="0"/>
          </a:p>
        </p:txBody>
      </p:sp>
      <p:sp>
        <p:nvSpPr>
          <p:cNvPr id="4" name="Text 2"/>
          <p:cNvSpPr/>
          <p:nvPr/>
        </p:nvSpPr>
        <p:spPr>
          <a:xfrm>
            <a:off x="661475" y="1072852"/>
            <a:ext cx="10868745" cy="167878"/>
          </a:xfrm>
          <a:prstGeom prst="rect">
            <a:avLst/>
          </a:prstGeom>
          <a:noFill/>
          <a:ln/>
        </p:spPr>
        <p:txBody>
          <a:bodyPr wrap="none" lIns="0" tIns="0" rIns="0" bIns="0" rtlCol="0" anchor="t"/>
          <a:lstStyle/>
          <a:p>
            <a:pPr marL="0" indent="0" algn="l">
              <a:lnSpc>
                <a:spcPct val="104000"/>
              </a:lnSpc>
              <a:buNone/>
            </a:pPr>
            <a:r>
              <a:rPr lang="en-US" sz="1050" b="1" dirty="0">
                <a:solidFill>
                  <a:srgbClr val="F94CAF"/>
                </a:solidFill>
                <a:latin typeface="Inconsolata Bold" pitchFamily="34" charset="0"/>
                <a:ea typeface="Inconsolata Bold" pitchFamily="34" charset="-122"/>
                <a:cs typeface="Inconsolata Bold" pitchFamily="34" charset="-120"/>
              </a:rPr>
              <a:t>Key Actions:</a:t>
            </a:r>
            <a:endParaRPr lang="en-US" sz="1050" dirty="0"/>
          </a:p>
        </p:txBody>
      </p:sp>
      <p:sp>
        <p:nvSpPr>
          <p:cNvPr id="5" name="Text 3"/>
          <p:cNvSpPr/>
          <p:nvPr/>
        </p:nvSpPr>
        <p:spPr>
          <a:xfrm>
            <a:off x="661475" y="1332409"/>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01</a:t>
            </a:r>
            <a:endParaRPr lang="en-US" sz="800" dirty="0"/>
          </a:p>
        </p:txBody>
      </p:sp>
      <p:sp>
        <p:nvSpPr>
          <p:cNvPr id="6" name="Shape 4"/>
          <p:cNvSpPr/>
          <p:nvPr/>
        </p:nvSpPr>
        <p:spPr>
          <a:xfrm>
            <a:off x="661475" y="1502271"/>
            <a:ext cx="5403814" cy="12700"/>
          </a:xfrm>
          <a:prstGeom prst="rect">
            <a:avLst/>
          </a:prstGeom>
          <a:solidFill>
            <a:srgbClr val="FF6680"/>
          </a:solidFill>
          <a:ln/>
        </p:spPr>
      </p:sp>
      <p:sp>
        <p:nvSpPr>
          <p:cNvPr id="7" name="Text 5"/>
          <p:cNvSpPr/>
          <p:nvPr/>
        </p:nvSpPr>
        <p:spPr>
          <a:xfrm>
            <a:off x="661475" y="1581348"/>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Employee browses products and submits a request with business justification</a:t>
            </a:r>
            <a:endParaRPr lang="en-US" sz="800" dirty="0"/>
          </a:p>
        </p:txBody>
      </p:sp>
      <p:sp>
        <p:nvSpPr>
          <p:cNvPr id="8" name="Text 6"/>
          <p:cNvSpPr/>
          <p:nvPr/>
        </p:nvSpPr>
        <p:spPr>
          <a:xfrm>
            <a:off x="6126406" y="1332409"/>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02</a:t>
            </a:r>
            <a:endParaRPr lang="en-US" sz="800" dirty="0"/>
          </a:p>
        </p:txBody>
      </p:sp>
      <p:sp>
        <p:nvSpPr>
          <p:cNvPr id="9" name="Shape 7"/>
          <p:cNvSpPr/>
          <p:nvPr/>
        </p:nvSpPr>
        <p:spPr>
          <a:xfrm>
            <a:off x="6126406" y="1502271"/>
            <a:ext cx="5403814" cy="12700"/>
          </a:xfrm>
          <a:prstGeom prst="rect">
            <a:avLst/>
          </a:prstGeom>
          <a:solidFill>
            <a:srgbClr val="FF6680"/>
          </a:solidFill>
          <a:ln/>
        </p:spPr>
      </p:sp>
      <p:sp>
        <p:nvSpPr>
          <p:cNvPr id="10" name="Text 8"/>
          <p:cNvSpPr/>
          <p:nvPr/>
        </p:nvSpPr>
        <p:spPr>
          <a:xfrm>
            <a:off x="6126406" y="1581348"/>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Request appears in "My Requests" with status tracking</a:t>
            </a:r>
            <a:endParaRPr lang="en-US" sz="800" dirty="0"/>
          </a:p>
        </p:txBody>
      </p:sp>
      <p:sp>
        <p:nvSpPr>
          <p:cNvPr id="11" name="Text 9"/>
          <p:cNvSpPr/>
          <p:nvPr/>
        </p:nvSpPr>
        <p:spPr>
          <a:xfrm>
            <a:off x="661475" y="1857970"/>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03</a:t>
            </a:r>
            <a:endParaRPr lang="en-US" sz="800" dirty="0"/>
          </a:p>
        </p:txBody>
      </p:sp>
      <p:sp>
        <p:nvSpPr>
          <p:cNvPr id="12" name="Shape 10"/>
          <p:cNvSpPr/>
          <p:nvPr/>
        </p:nvSpPr>
        <p:spPr>
          <a:xfrm>
            <a:off x="661475" y="2017117"/>
            <a:ext cx="5403814" cy="12700"/>
          </a:xfrm>
          <a:prstGeom prst="rect">
            <a:avLst/>
          </a:prstGeom>
          <a:solidFill>
            <a:srgbClr val="FF6680"/>
          </a:solidFill>
          <a:ln/>
        </p:spPr>
      </p:sp>
      <p:sp>
        <p:nvSpPr>
          <p:cNvPr id="13" name="Text 11"/>
          <p:cNvSpPr/>
          <p:nvPr/>
        </p:nvSpPr>
        <p:spPr>
          <a:xfrm>
            <a:off x="661475" y="2106910"/>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When admin approves and processes payment, order moves to "My Orders"</a:t>
            </a:r>
            <a:endParaRPr lang="en-US" sz="800" dirty="0"/>
          </a:p>
        </p:txBody>
      </p:sp>
      <p:sp>
        <p:nvSpPr>
          <p:cNvPr id="14" name="Text 12"/>
          <p:cNvSpPr/>
          <p:nvPr/>
        </p:nvSpPr>
        <p:spPr>
          <a:xfrm>
            <a:off x="6126406" y="1857970"/>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04</a:t>
            </a:r>
            <a:endParaRPr lang="en-US" sz="800" dirty="0"/>
          </a:p>
        </p:txBody>
      </p:sp>
      <p:sp>
        <p:nvSpPr>
          <p:cNvPr id="15" name="Shape 13"/>
          <p:cNvSpPr/>
          <p:nvPr/>
        </p:nvSpPr>
        <p:spPr>
          <a:xfrm>
            <a:off x="6126406" y="2017117"/>
            <a:ext cx="5403814" cy="12700"/>
          </a:xfrm>
          <a:prstGeom prst="rect">
            <a:avLst/>
          </a:prstGeom>
          <a:solidFill>
            <a:srgbClr val="FF6680"/>
          </a:solidFill>
          <a:ln/>
        </p:spPr>
      </p:sp>
      <p:sp>
        <p:nvSpPr>
          <p:cNvPr id="16" name="Text 14"/>
          <p:cNvSpPr/>
          <p:nvPr/>
        </p:nvSpPr>
        <p:spPr>
          <a:xfrm>
            <a:off x="6126406" y="2106910"/>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Supplier updates delivery status in real-time—employee sees progress</a:t>
            </a:r>
            <a:endParaRPr lang="en-US" sz="800" dirty="0"/>
          </a:p>
        </p:txBody>
      </p:sp>
      <p:sp>
        <p:nvSpPr>
          <p:cNvPr id="17" name="Text 15"/>
          <p:cNvSpPr/>
          <p:nvPr/>
        </p:nvSpPr>
        <p:spPr>
          <a:xfrm>
            <a:off x="661475" y="2383532"/>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05</a:t>
            </a:r>
            <a:endParaRPr lang="en-US" sz="800" dirty="0"/>
          </a:p>
        </p:txBody>
      </p:sp>
      <p:sp>
        <p:nvSpPr>
          <p:cNvPr id="18" name="Shape 16"/>
          <p:cNvSpPr/>
          <p:nvPr/>
        </p:nvSpPr>
        <p:spPr>
          <a:xfrm>
            <a:off x="661475" y="2531963"/>
            <a:ext cx="5403814" cy="12700"/>
          </a:xfrm>
          <a:prstGeom prst="rect">
            <a:avLst/>
          </a:prstGeom>
          <a:solidFill>
            <a:srgbClr val="FF6680"/>
          </a:solidFill>
          <a:ln/>
        </p:spPr>
      </p:sp>
      <p:sp>
        <p:nvSpPr>
          <p:cNvPr id="19" name="Text 17"/>
          <p:cNvSpPr/>
          <p:nvPr/>
        </p:nvSpPr>
        <p:spPr>
          <a:xfrm>
            <a:off x="661475" y="2632472"/>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Upon delivery, employee provides feedback and rates the product and supplier service</a:t>
            </a:r>
            <a:endParaRPr lang="en-US" sz="800" dirty="0"/>
          </a:p>
        </p:txBody>
      </p:sp>
      <p:sp>
        <p:nvSpPr>
          <p:cNvPr id="20" name="Text 18"/>
          <p:cNvSpPr/>
          <p:nvPr/>
        </p:nvSpPr>
        <p:spPr>
          <a:xfrm>
            <a:off x="6126406" y="2383532"/>
            <a:ext cx="215002" cy="134342"/>
          </a:xfrm>
          <a:prstGeom prst="rect">
            <a:avLst/>
          </a:prstGeom>
          <a:noFill/>
          <a:ln/>
        </p:spPr>
        <p:txBody>
          <a:bodyPr wrap="none" lIns="0" tIns="0" rIns="0" bIns="0" rtlCol="0" anchor="ctr"/>
          <a:lstStyle/>
          <a:p>
            <a:pPr marL="0" indent="0" algn="l">
              <a:lnSpc>
                <a:spcPct val="100000"/>
              </a:lnSpc>
              <a:buNone/>
            </a:pPr>
            <a:r>
              <a:rPr lang="en-US" sz="800" dirty="0">
                <a:solidFill>
                  <a:srgbClr val="DAD1E6"/>
                </a:solidFill>
                <a:latin typeface="Inconsolata Light" pitchFamily="34" charset="0"/>
                <a:ea typeface="Inconsolata Light" pitchFamily="34" charset="-122"/>
                <a:cs typeface="Inconsolata Light" pitchFamily="34" charset="-120"/>
              </a:rPr>
              <a:t>06</a:t>
            </a:r>
            <a:endParaRPr lang="en-US" sz="800" dirty="0"/>
          </a:p>
        </p:txBody>
      </p:sp>
      <p:sp>
        <p:nvSpPr>
          <p:cNvPr id="21" name="Shape 19"/>
          <p:cNvSpPr/>
          <p:nvPr/>
        </p:nvSpPr>
        <p:spPr>
          <a:xfrm>
            <a:off x="6126406" y="2531963"/>
            <a:ext cx="5403814" cy="12700"/>
          </a:xfrm>
          <a:prstGeom prst="rect">
            <a:avLst/>
          </a:prstGeom>
          <a:solidFill>
            <a:srgbClr val="FF6680"/>
          </a:solidFill>
          <a:ln/>
        </p:spPr>
      </p:sp>
      <p:sp>
        <p:nvSpPr>
          <p:cNvPr id="22" name="Text 20"/>
          <p:cNvSpPr/>
          <p:nvPr/>
        </p:nvSpPr>
        <p:spPr>
          <a:xfrm>
            <a:off x="6126406" y="2632472"/>
            <a:ext cx="5403814"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Feedback is recorded and contributes to supplier performance metrics</a:t>
            </a:r>
            <a:endParaRPr lang="en-US" sz="800" dirty="0"/>
          </a:p>
        </p:txBody>
      </p:sp>
      <p:sp>
        <p:nvSpPr>
          <p:cNvPr id="23" name="Text 21"/>
          <p:cNvSpPr/>
          <p:nvPr/>
        </p:nvSpPr>
        <p:spPr>
          <a:xfrm>
            <a:off x="661475" y="2916734"/>
            <a:ext cx="11478330" cy="134938"/>
          </a:xfrm>
          <a:prstGeom prst="rect">
            <a:avLst/>
          </a:prstGeom>
          <a:noFill/>
          <a:ln/>
        </p:spPr>
        <p:txBody>
          <a:bodyPr wrap="none" lIns="0" tIns="0" rIns="0" bIns="0" rtlCol="0" anchor="t"/>
          <a:lstStyle/>
          <a:p>
            <a:pPr marL="0" indent="0" algn="l">
              <a:lnSpc>
                <a:spcPct val="105000"/>
              </a:lnSpc>
              <a:buNone/>
            </a:pPr>
            <a:r>
              <a:rPr lang="en-US" sz="800" dirty="0">
                <a:solidFill>
                  <a:srgbClr val="DAD1E6"/>
                </a:solidFill>
                <a:latin typeface="Fira Sans" pitchFamily="34" charset="0"/>
                <a:ea typeface="Fira Sans" pitchFamily="34" charset="-122"/>
                <a:cs typeface="Fira Sans" pitchFamily="34" charset="-120"/>
              </a:rPr>
              <a:t>The employee portal provides complete visibility into the procurement lifecycle, from initial request through final delivery and feedback.</a:t>
            </a:r>
            <a:endParaRPr lang="en-US" sz="800" dirty="0"/>
          </a:p>
        </p:txBody>
      </p:sp>
      <p:pic>
        <p:nvPicPr>
          <p:cNvPr id="24" name="Image 0" descr="preencoded.png"/>
          <p:cNvPicPr>
            <a:picLocks noChangeAspect="1"/>
          </p:cNvPicPr>
          <p:nvPr/>
        </p:nvPicPr>
        <p:blipFill>
          <a:blip r:embed="rId3"/>
          <a:stretch>
            <a:fillRect/>
          </a:stretch>
        </p:blipFill>
        <p:spPr>
          <a:xfrm>
            <a:off x="2460913" y="3344222"/>
            <a:ext cx="7064595" cy="32172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32023"/>
            <a:ext cx="10868745" cy="413445"/>
          </a:xfrm>
          <a:prstGeom prst="rect">
            <a:avLst/>
          </a:prstGeom>
          <a:noFill/>
          <a:ln/>
        </p:spPr>
        <p:txBody>
          <a:bodyPr wrap="none" lIns="0" tIns="0" rIns="0" bIns="0" rtlCol="0" anchor="t"/>
          <a:lstStyle/>
          <a:p>
            <a:pPr marL="0" indent="0" algn="l">
              <a:lnSpc>
                <a:spcPct val="104000"/>
              </a:lnSpc>
              <a:buNone/>
            </a:pPr>
            <a:r>
              <a:rPr lang="en-US" sz="2600" b="1" dirty="0">
                <a:solidFill>
                  <a:srgbClr val="F94CAF"/>
                </a:solidFill>
                <a:latin typeface="Inconsolata Bold" pitchFamily="34" charset="0"/>
                <a:ea typeface="Inconsolata Bold" pitchFamily="34" charset="-122"/>
                <a:cs typeface="Inconsolata Bold" pitchFamily="34" charset="-120"/>
              </a:rPr>
              <a:t>Notification System: In-App &amp; Email Alerts</a:t>
            </a:r>
            <a:endParaRPr lang="en-US" sz="2600" dirty="0"/>
          </a:p>
        </p:txBody>
      </p:sp>
      <p:sp>
        <p:nvSpPr>
          <p:cNvPr id="3" name="Text 1"/>
          <p:cNvSpPr/>
          <p:nvPr/>
        </p:nvSpPr>
        <p:spPr>
          <a:xfrm>
            <a:off x="661475" y="1230709"/>
            <a:ext cx="11478330" cy="179983"/>
          </a:xfrm>
          <a:prstGeom prst="rect">
            <a:avLst/>
          </a:prstGeom>
          <a:noFill/>
          <a:ln/>
        </p:spPr>
        <p:txBody>
          <a:bodyPr wrap="none" lIns="0" tIns="0" rIns="0" bIns="0" rtlCol="0" anchor="t"/>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Notifications keep all stakeholders informed in real-time.</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14872"/>
            <a:ext cx="330688" cy="330696"/>
          </a:xfrm>
          <a:prstGeom prst="rect">
            <a:avLst/>
          </a:prstGeom>
        </p:spPr>
      </p:pic>
      <p:sp>
        <p:nvSpPr>
          <p:cNvPr id="5" name="Text 2"/>
          <p:cNvSpPr/>
          <p:nvPr/>
        </p:nvSpPr>
        <p:spPr>
          <a:xfrm>
            <a:off x="661475" y="1961257"/>
            <a:ext cx="5376530" cy="206673"/>
          </a:xfrm>
          <a:prstGeom prst="rect">
            <a:avLst/>
          </a:prstGeom>
          <a:noFill/>
          <a:ln/>
        </p:spPr>
        <p:txBody>
          <a:bodyPr wrap="none" lIns="0" tIns="0" rIns="0" bIns="0" rtlCol="0" anchor="t"/>
          <a:lstStyle/>
          <a:p>
            <a:pPr marL="0" indent="0" algn="l">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In-App Alerts</a:t>
            </a:r>
            <a:endParaRPr lang="en-US" sz="1300" dirty="0"/>
          </a:p>
        </p:txBody>
      </p:sp>
      <p:sp>
        <p:nvSpPr>
          <p:cNvPr id="6" name="Text 3"/>
          <p:cNvSpPr/>
          <p:nvPr/>
        </p:nvSpPr>
        <p:spPr>
          <a:xfrm>
            <a:off x="661475" y="2223492"/>
            <a:ext cx="5376530" cy="899914"/>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When order statuses change—whether an employee's request is approved, an admin processes payment, or a supplier updates delivery status—the system sends instant notifications directly within the app. Users can view all notifications in a dedicated Notifications page, which displays a complete history of order updates, status changes, and system alerts.</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3691" y="1514872"/>
            <a:ext cx="330688" cy="330696"/>
          </a:xfrm>
          <a:prstGeom prst="rect">
            <a:avLst/>
          </a:prstGeom>
        </p:spPr>
      </p:pic>
      <p:sp>
        <p:nvSpPr>
          <p:cNvPr id="8" name="Text 4"/>
          <p:cNvSpPr/>
          <p:nvPr/>
        </p:nvSpPr>
        <p:spPr>
          <a:xfrm>
            <a:off x="6153691" y="1961257"/>
            <a:ext cx="5376530" cy="206673"/>
          </a:xfrm>
          <a:prstGeom prst="rect">
            <a:avLst/>
          </a:prstGeom>
          <a:noFill/>
          <a:ln/>
        </p:spPr>
        <p:txBody>
          <a:bodyPr wrap="none" lIns="0" tIns="0" rIns="0" bIns="0" rtlCol="0" anchor="t"/>
          <a:lstStyle/>
          <a:p>
            <a:pPr marL="0" indent="0" algn="l">
              <a:lnSpc>
                <a:spcPct val="104000"/>
              </a:lnSpc>
              <a:buNone/>
            </a:pPr>
            <a:r>
              <a:rPr lang="en-US" sz="1300" b="1" dirty="0">
                <a:solidFill>
                  <a:srgbClr val="DAD1E6"/>
                </a:solidFill>
                <a:latin typeface="Inconsolata Bold" pitchFamily="34" charset="0"/>
                <a:ea typeface="Inconsolata Bold" pitchFamily="34" charset="-122"/>
                <a:cs typeface="Inconsolata Bold" pitchFamily="34" charset="-120"/>
              </a:rPr>
              <a:t>Email Alerts</a:t>
            </a:r>
            <a:endParaRPr lang="en-US" sz="1300" dirty="0"/>
          </a:p>
        </p:txBody>
      </p:sp>
      <p:sp>
        <p:nvSpPr>
          <p:cNvPr id="9" name="Text 5"/>
          <p:cNvSpPr/>
          <p:nvPr/>
        </p:nvSpPr>
        <p:spPr>
          <a:xfrm>
            <a:off x="6153691" y="2223492"/>
            <a:ext cx="5376530" cy="719931"/>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DAD1E6"/>
                </a:solidFill>
                <a:latin typeface="Fira Sans" pitchFamily="34" charset="0"/>
                <a:ea typeface="Fira Sans" pitchFamily="34" charset="-122"/>
                <a:cs typeface="Fira Sans" pitchFamily="34" charset="-120"/>
              </a:rPr>
              <a:t>Additionally, critical notifications are automatically sent to users' email addresses, ensuring they stay informed even when not actively using the platform. This dual-channel approach (in-app + email) guarantees that no important updates are missed, keeping the entire procurement workflow transparent and responsive.</a:t>
            </a:r>
            <a:endParaRPr lang="en-US" sz="1000" dirty="0"/>
          </a:p>
        </p:txBody>
      </p:sp>
      <p:pic>
        <p:nvPicPr>
          <p:cNvPr id="10" name="Image 2" descr="preencoded.png"/>
          <p:cNvPicPr>
            <a:picLocks noChangeAspect="1"/>
          </p:cNvPicPr>
          <p:nvPr/>
        </p:nvPicPr>
        <p:blipFill>
          <a:blip r:embed="rId5"/>
          <a:stretch>
            <a:fillRect/>
          </a:stretch>
        </p:blipFill>
        <p:spPr>
          <a:xfrm>
            <a:off x="2781131" y="3227586"/>
            <a:ext cx="6629333" cy="29982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9438"/>
            <a:ext cx="10868745" cy="531614"/>
          </a:xfrm>
          <a:prstGeom prst="rect">
            <a:avLst/>
          </a:prstGeom>
          <a:noFill/>
          <a:ln/>
        </p:spPr>
        <p:txBody>
          <a:bodyPr wrap="none" lIns="0" tIns="0" rIns="0" bIns="0" rtlCol="0" anchor="t"/>
          <a:lstStyle/>
          <a:p>
            <a:pPr marL="0" indent="0" algn="l">
              <a:lnSpc>
                <a:spcPct val="104000"/>
              </a:lnSpc>
              <a:buNone/>
            </a:pPr>
            <a:r>
              <a:rPr lang="en-US" sz="3300" b="1" dirty="0">
                <a:solidFill>
                  <a:srgbClr val="F94CAF"/>
                </a:solidFill>
                <a:latin typeface="Inconsolata Bold" pitchFamily="34" charset="0"/>
                <a:ea typeface="Inconsolata Bold" pitchFamily="34" charset="-122"/>
                <a:cs typeface="Inconsolata Bold" pitchFamily="34" charset="-120"/>
              </a:rPr>
              <a:t>Key Features &amp; Business Impact</a:t>
            </a:r>
            <a:endParaRPr lang="en-US" sz="3300" dirty="0"/>
          </a:p>
        </p:txBody>
      </p:sp>
      <p:sp>
        <p:nvSpPr>
          <p:cNvPr id="3" name="Text 1"/>
          <p:cNvSpPr/>
          <p:nvPr/>
        </p:nvSpPr>
        <p:spPr>
          <a:xfrm>
            <a:off x="661475" y="1417241"/>
            <a:ext cx="11478330" cy="258564"/>
          </a:xfrm>
          <a:prstGeom prst="rect">
            <a:avLst/>
          </a:prstGeom>
          <a:noFill/>
          <a:ln/>
        </p:spPr>
        <p:txBody>
          <a:bodyPr wrap="none" lIns="0" tIns="0" rIns="0" bIns="0" rtlCol="0" anchor="t"/>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How the procurement platform improves efficiency, visibility, and control</a:t>
            </a:r>
            <a:endParaRPr lang="en-US" sz="1300" dirty="0"/>
          </a:p>
        </p:txBody>
      </p:sp>
      <p:sp>
        <p:nvSpPr>
          <p:cNvPr id="4" name="Shape 2"/>
          <p:cNvSpPr/>
          <p:nvPr/>
        </p:nvSpPr>
        <p:spPr>
          <a:xfrm>
            <a:off x="661475" y="1848048"/>
            <a:ext cx="2602343" cy="1997571"/>
          </a:xfrm>
          <a:prstGeom prst="roundRect">
            <a:avLst>
              <a:gd name="adj" fmla="val 1277"/>
            </a:avLst>
          </a:prstGeom>
          <a:solidFill>
            <a:srgbClr val="433550"/>
          </a:solidFill>
          <a:ln/>
        </p:spPr>
      </p:sp>
      <p:sp>
        <p:nvSpPr>
          <p:cNvPr id="5" name="Text 3"/>
          <p:cNvSpPr/>
          <p:nvPr/>
        </p:nvSpPr>
        <p:spPr>
          <a:xfrm>
            <a:off x="831532" y="2018109"/>
            <a:ext cx="2262230" cy="531416"/>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Centralized Procurement</a:t>
            </a:r>
            <a:endParaRPr lang="en-US" sz="1650" dirty="0"/>
          </a:p>
        </p:txBody>
      </p:sp>
      <p:sp>
        <p:nvSpPr>
          <p:cNvPr id="6" name="Text 4"/>
          <p:cNvSpPr/>
          <p:nvPr/>
        </p:nvSpPr>
        <p:spPr>
          <a:xfrm>
            <a:off x="831532" y="2641302"/>
            <a:ext cx="2262230"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One platform connects employees, administrators, and suppliers throughout the procurement lifecycle.</a:t>
            </a:r>
            <a:endParaRPr lang="en-US" sz="1300" dirty="0"/>
          </a:p>
        </p:txBody>
      </p:sp>
      <p:sp>
        <p:nvSpPr>
          <p:cNvPr id="7" name="Shape 5"/>
          <p:cNvSpPr/>
          <p:nvPr/>
        </p:nvSpPr>
        <p:spPr>
          <a:xfrm>
            <a:off x="3416909" y="1848048"/>
            <a:ext cx="2602343" cy="1997571"/>
          </a:xfrm>
          <a:prstGeom prst="roundRect">
            <a:avLst>
              <a:gd name="adj" fmla="val 1277"/>
            </a:avLst>
          </a:prstGeom>
          <a:solidFill>
            <a:srgbClr val="433550"/>
          </a:solidFill>
          <a:ln/>
        </p:spPr>
      </p:sp>
      <p:sp>
        <p:nvSpPr>
          <p:cNvPr id="8" name="Text 6"/>
          <p:cNvSpPr/>
          <p:nvPr/>
        </p:nvSpPr>
        <p:spPr>
          <a:xfrm>
            <a:off x="3586966" y="2018109"/>
            <a:ext cx="2262230" cy="531416"/>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Budget &amp; Approval Control</a:t>
            </a:r>
            <a:endParaRPr lang="en-US" sz="1650" dirty="0"/>
          </a:p>
        </p:txBody>
      </p:sp>
      <p:sp>
        <p:nvSpPr>
          <p:cNvPr id="9" name="Text 7"/>
          <p:cNvSpPr/>
          <p:nvPr/>
        </p:nvSpPr>
        <p:spPr>
          <a:xfrm>
            <a:off x="3586966" y="2641302"/>
            <a:ext cx="2262230"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Requests are reviewed using budget availability and business justification before approval.</a:t>
            </a:r>
            <a:endParaRPr lang="en-US" sz="1300" dirty="0"/>
          </a:p>
        </p:txBody>
      </p:sp>
      <p:sp>
        <p:nvSpPr>
          <p:cNvPr id="10" name="Shape 8"/>
          <p:cNvSpPr/>
          <p:nvPr/>
        </p:nvSpPr>
        <p:spPr>
          <a:xfrm>
            <a:off x="6172343" y="1848048"/>
            <a:ext cx="2602343" cy="1997571"/>
          </a:xfrm>
          <a:prstGeom prst="roundRect">
            <a:avLst>
              <a:gd name="adj" fmla="val 1277"/>
            </a:avLst>
          </a:prstGeom>
          <a:solidFill>
            <a:srgbClr val="433550"/>
          </a:solidFill>
          <a:ln/>
        </p:spPr>
      </p:sp>
      <p:sp>
        <p:nvSpPr>
          <p:cNvPr id="11" name="Text 9"/>
          <p:cNvSpPr/>
          <p:nvPr/>
        </p:nvSpPr>
        <p:spPr>
          <a:xfrm>
            <a:off x="6342400" y="2018109"/>
            <a:ext cx="2262230" cy="531416"/>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Real-Time Order Tracking</a:t>
            </a:r>
            <a:endParaRPr lang="en-US" sz="1650" dirty="0"/>
          </a:p>
        </p:txBody>
      </p:sp>
      <p:sp>
        <p:nvSpPr>
          <p:cNvPr id="12" name="Text 10"/>
          <p:cNvSpPr/>
          <p:nvPr/>
        </p:nvSpPr>
        <p:spPr>
          <a:xfrm>
            <a:off x="6342400" y="2641302"/>
            <a:ext cx="2262230"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Track request approval, payment, fulfillment, and delivery status throughout the lifecycle.</a:t>
            </a:r>
            <a:endParaRPr lang="en-US" sz="1300" dirty="0"/>
          </a:p>
        </p:txBody>
      </p:sp>
      <p:sp>
        <p:nvSpPr>
          <p:cNvPr id="13" name="Shape 11"/>
          <p:cNvSpPr/>
          <p:nvPr/>
        </p:nvSpPr>
        <p:spPr>
          <a:xfrm>
            <a:off x="8927777" y="1848048"/>
            <a:ext cx="2602443" cy="1997571"/>
          </a:xfrm>
          <a:prstGeom prst="roundRect">
            <a:avLst>
              <a:gd name="adj" fmla="val 1277"/>
            </a:avLst>
          </a:prstGeom>
          <a:solidFill>
            <a:srgbClr val="433550"/>
          </a:solidFill>
          <a:ln/>
        </p:spPr>
      </p:sp>
      <p:sp>
        <p:nvSpPr>
          <p:cNvPr id="14" name="Text 12"/>
          <p:cNvSpPr/>
          <p:nvPr/>
        </p:nvSpPr>
        <p:spPr>
          <a:xfrm>
            <a:off x="9097834" y="2018109"/>
            <a:ext cx="2262329" cy="531416"/>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Secure Role-Based Access</a:t>
            </a:r>
            <a:endParaRPr lang="en-US" sz="1650" dirty="0"/>
          </a:p>
        </p:txBody>
      </p:sp>
      <p:sp>
        <p:nvSpPr>
          <p:cNvPr id="15" name="Text 13"/>
          <p:cNvSpPr/>
          <p:nvPr/>
        </p:nvSpPr>
        <p:spPr>
          <a:xfrm>
            <a:off x="9097834" y="2641302"/>
            <a:ext cx="2262329"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Employees, admins, and suppliers access only the data and functions relevant to their roles.</a:t>
            </a:r>
            <a:endParaRPr lang="en-US" sz="1300" dirty="0"/>
          </a:p>
        </p:txBody>
      </p:sp>
      <p:sp>
        <p:nvSpPr>
          <p:cNvPr id="16" name="Shape 14"/>
          <p:cNvSpPr/>
          <p:nvPr/>
        </p:nvSpPr>
        <p:spPr>
          <a:xfrm>
            <a:off x="661475" y="3998714"/>
            <a:ext cx="5357778" cy="1214735"/>
          </a:xfrm>
          <a:prstGeom prst="roundRect">
            <a:avLst>
              <a:gd name="adj" fmla="val 2101"/>
            </a:avLst>
          </a:prstGeom>
          <a:solidFill>
            <a:srgbClr val="433550"/>
          </a:solidFill>
          <a:ln/>
        </p:spPr>
      </p:sp>
      <p:sp>
        <p:nvSpPr>
          <p:cNvPr id="17" name="Text 15"/>
          <p:cNvSpPr/>
          <p:nvPr/>
        </p:nvSpPr>
        <p:spPr>
          <a:xfrm>
            <a:off x="831532" y="4168775"/>
            <a:ext cx="5017664" cy="265708"/>
          </a:xfrm>
          <a:prstGeom prst="rect">
            <a:avLst/>
          </a:prstGeom>
          <a:noFill/>
          <a:ln/>
        </p:spPr>
        <p:txBody>
          <a:bodyPr wrap="none" lIns="0" tIns="0" rIns="0" bIns="0" rtlCol="0" anchor="t"/>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Supplier Management</a:t>
            </a:r>
            <a:endParaRPr lang="en-US" sz="1650" dirty="0"/>
          </a:p>
        </p:txBody>
      </p:sp>
      <p:sp>
        <p:nvSpPr>
          <p:cNvPr id="18" name="Text 16"/>
          <p:cNvSpPr/>
          <p:nvPr/>
        </p:nvSpPr>
        <p:spPr>
          <a:xfrm>
            <a:off x="831532" y="4526260"/>
            <a:ext cx="50176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Manage purchase orders, fulfillment updates, payments, delivery information, and supplier performance.</a:t>
            </a:r>
            <a:endParaRPr lang="en-US" sz="1300" dirty="0"/>
          </a:p>
        </p:txBody>
      </p:sp>
      <p:sp>
        <p:nvSpPr>
          <p:cNvPr id="19" name="Shape 17"/>
          <p:cNvSpPr/>
          <p:nvPr/>
        </p:nvSpPr>
        <p:spPr>
          <a:xfrm>
            <a:off x="6172343" y="3998714"/>
            <a:ext cx="5357877" cy="1214735"/>
          </a:xfrm>
          <a:prstGeom prst="roundRect">
            <a:avLst>
              <a:gd name="adj" fmla="val 2101"/>
            </a:avLst>
          </a:prstGeom>
          <a:solidFill>
            <a:srgbClr val="433550"/>
          </a:solidFill>
          <a:ln/>
        </p:spPr>
      </p:sp>
      <p:sp>
        <p:nvSpPr>
          <p:cNvPr id="20" name="Text 18"/>
          <p:cNvSpPr/>
          <p:nvPr/>
        </p:nvSpPr>
        <p:spPr>
          <a:xfrm>
            <a:off x="6342400" y="4168775"/>
            <a:ext cx="5017764" cy="265708"/>
          </a:xfrm>
          <a:prstGeom prst="rect">
            <a:avLst/>
          </a:prstGeom>
          <a:noFill/>
          <a:ln/>
        </p:spPr>
        <p:txBody>
          <a:bodyPr wrap="none" lIns="0" tIns="0" rIns="0" bIns="0" rtlCol="0" anchor="t"/>
          <a:lstStyle/>
          <a:p>
            <a:pPr marL="0" indent="0" algn="l">
              <a:lnSpc>
                <a:spcPct val="104000"/>
              </a:lnSpc>
              <a:buNone/>
            </a:pPr>
            <a:r>
              <a:rPr lang="en-US" sz="1650" b="1" dirty="0">
                <a:solidFill>
                  <a:srgbClr val="DAD1E6"/>
                </a:solidFill>
                <a:latin typeface="Inconsolata Bold" pitchFamily="34" charset="0"/>
                <a:ea typeface="Inconsolata Bold" pitchFamily="34" charset="-122"/>
                <a:cs typeface="Inconsolata Bold" pitchFamily="34" charset="-120"/>
              </a:rPr>
              <a:t>Notifications &amp; Transparency</a:t>
            </a:r>
            <a:endParaRPr lang="en-US" sz="1650" dirty="0"/>
          </a:p>
        </p:txBody>
      </p:sp>
      <p:sp>
        <p:nvSpPr>
          <p:cNvPr id="21" name="Text 19"/>
          <p:cNvSpPr/>
          <p:nvPr/>
        </p:nvSpPr>
        <p:spPr>
          <a:xfrm>
            <a:off x="6342400" y="4526260"/>
            <a:ext cx="50177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AD1E6"/>
                </a:solidFill>
                <a:latin typeface="Fira Sans" pitchFamily="34" charset="0"/>
                <a:ea typeface="Fira Sans" pitchFamily="34" charset="-122"/>
                <a:cs typeface="Fira Sans" pitchFamily="34" charset="-120"/>
              </a:rPr>
              <a:t>In-app and email notifications keep stakeholders informed about important status changes.</a:t>
            </a:r>
            <a:endParaRPr lang="en-US" sz="1300" dirty="0"/>
          </a:p>
        </p:txBody>
      </p:sp>
      <p:sp>
        <p:nvSpPr>
          <p:cNvPr id="22" name="Shape 20"/>
          <p:cNvSpPr/>
          <p:nvPr/>
        </p:nvSpPr>
        <p:spPr>
          <a:xfrm>
            <a:off x="661475" y="5385693"/>
            <a:ext cx="10868745" cy="892870"/>
          </a:xfrm>
          <a:prstGeom prst="roundRect">
            <a:avLst>
              <a:gd name="adj" fmla="val 2858"/>
            </a:avLst>
          </a:prstGeom>
          <a:solidFill>
            <a:srgbClr val="7B0448"/>
          </a:solidFill>
          <a:ln/>
        </p:spPr>
      </p:sp>
      <p:pic>
        <p:nvPicPr>
          <p:cNvPr id="23" name="Image 0" descr="preencoded.png"/>
          <p:cNvPicPr>
            <a:picLocks noChangeAspect="1"/>
          </p:cNvPicPr>
          <p:nvPr/>
        </p:nvPicPr>
        <p:blipFill>
          <a:blip r:embed="rId3"/>
          <a:stretch>
            <a:fillRect/>
          </a:stretch>
        </p:blipFill>
        <p:spPr>
          <a:xfrm>
            <a:off x="831532" y="5603875"/>
            <a:ext cx="212620" cy="170061"/>
          </a:xfrm>
          <a:prstGeom prst="rect">
            <a:avLst/>
          </a:prstGeom>
        </p:spPr>
      </p:pic>
      <p:sp>
        <p:nvSpPr>
          <p:cNvPr id="24" name="Text 21"/>
          <p:cNvSpPr/>
          <p:nvPr/>
        </p:nvSpPr>
        <p:spPr>
          <a:xfrm>
            <a:off x="1214209" y="5581253"/>
            <a:ext cx="10145955" cy="517128"/>
          </a:xfrm>
          <a:prstGeom prst="rect">
            <a:avLst/>
          </a:prstGeom>
          <a:noFill/>
          <a:ln/>
        </p:spPr>
        <p:txBody>
          <a:bodyPr wrap="square" lIns="0" tIns="0" rIns="0" bIns="0" rtlCol="0" anchor="t">
            <a:normAutofit/>
          </a:bodyPr>
          <a:lstStyle/>
          <a:p>
            <a:pPr marL="0" indent="0" algn="l">
              <a:lnSpc>
                <a:spcPct val="127000"/>
              </a:lnSpc>
              <a:buNone/>
            </a:pPr>
            <a:r>
              <a:rPr lang="en-US" sz="1300" b="1" dirty="0">
                <a:solidFill>
                  <a:srgbClr val="FFFFFF"/>
                </a:solidFill>
                <a:latin typeface="Fira Sans Bold" pitchFamily="34" charset="0"/>
                <a:ea typeface="Fira Sans Bold" pitchFamily="34" charset="-122"/>
                <a:cs typeface="Fira Sans Bold" pitchFamily="34" charset="-120"/>
              </a:rPr>
              <a:t>RESULT:</a:t>
            </a:r>
            <a:r>
              <a:rPr lang="en-US" sz="1300" dirty="0">
                <a:solidFill>
                  <a:srgbClr val="FFFFFF"/>
                </a:solidFill>
                <a:latin typeface="Fira Sans" pitchFamily="34" charset="0"/>
                <a:ea typeface="Fira Sans" pitchFamily="34" charset="-122"/>
                <a:cs typeface="Fira Sans" pitchFamily="34" charset="-120"/>
              </a:rPr>
              <a:t> Reduced manual coordination • Improved visibility • Faster approvals • Better accountability • Auditable procurement lifecycle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80244"/>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Future Scope &amp; Enhancements</a:t>
            </a:r>
            <a:endParaRPr lang="en-US" sz="2750" dirty="0"/>
          </a:p>
        </p:txBody>
      </p:sp>
      <p:sp>
        <p:nvSpPr>
          <p:cNvPr id="3" name="Text 1"/>
          <p:cNvSpPr/>
          <p:nvPr/>
        </p:nvSpPr>
        <p:spPr>
          <a:xfrm>
            <a:off x="661475" y="1335881"/>
            <a:ext cx="11478330" cy="198438"/>
          </a:xfrm>
          <a:prstGeom prst="rect">
            <a:avLst/>
          </a:prstGeom>
          <a:noFill/>
          <a:ln/>
        </p:spPr>
        <p:txBody>
          <a:bodyPr wrap="none" lIns="0" tIns="0" rIns="0" bIns="0" rtlCol="0" anchor="t"/>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Evolving the platform toward intelligent and scalable procurement</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653877"/>
            <a:ext cx="354401" cy="354409"/>
          </a:xfrm>
          <a:prstGeom prst="rect">
            <a:avLst/>
          </a:prstGeom>
        </p:spPr>
      </p:pic>
      <p:sp>
        <p:nvSpPr>
          <p:cNvPr id="5" name="Text 2"/>
          <p:cNvSpPr/>
          <p:nvPr/>
        </p:nvSpPr>
        <p:spPr>
          <a:xfrm>
            <a:off x="661475" y="2141141"/>
            <a:ext cx="5367898"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AI-Powered Procurement</a:t>
            </a:r>
            <a:endParaRPr lang="en-US" sz="1350" dirty="0"/>
          </a:p>
        </p:txBody>
      </p:sp>
      <p:sp>
        <p:nvSpPr>
          <p:cNvPr id="6" name="Text 3"/>
          <p:cNvSpPr/>
          <p:nvPr/>
        </p:nvSpPr>
        <p:spPr>
          <a:xfrm>
            <a:off x="661475" y="2426295"/>
            <a:ext cx="5367898"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Predict future purchasing needs, identify unusual spending patterns, recommend suitable products or suppliers</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2223" y="1653877"/>
            <a:ext cx="354401" cy="354409"/>
          </a:xfrm>
          <a:prstGeom prst="rect">
            <a:avLst/>
          </a:prstGeom>
        </p:spPr>
      </p:pic>
      <p:sp>
        <p:nvSpPr>
          <p:cNvPr id="8" name="Text 4"/>
          <p:cNvSpPr/>
          <p:nvPr/>
        </p:nvSpPr>
        <p:spPr>
          <a:xfrm>
            <a:off x="6162223" y="2141141"/>
            <a:ext cx="5367997"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Advanced Analytics</a:t>
            </a:r>
            <a:endParaRPr lang="en-US" sz="1350" dirty="0"/>
          </a:p>
        </p:txBody>
      </p:sp>
      <p:sp>
        <p:nvSpPr>
          <p:cNvPr id="9" name="Text 5"/>
          <p:cNvSpPr/>
          <p:nvPr/>
        </p:nvSpPr>
        <p:spPr>
          <a:xfrm>
            <a:off x="6162223" y="2426295"/>
            <a:ext cx="5367997"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Department-wise spending analysis, supplier performance dashboards, budget utilization forecasting</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035796"/>
            <a:ext cx="354401" cy="354409"/>
          </a:xfrm>
          <a:prstGeom prst="rect">
            <a:avLst/>
          </a:prstGeom>
        </p:spPr>
      </p:pic>
      <p:sp>
        <p:nvSpPr>
          <p:cNvPr id="11" name="Text 6"/>
          <p:cNvSpPr/>
          <p:nvPr/>
        </p:nvSpPr>
        <p:spPr>
          <a:xfrm>
            <a:off x="661475" y="3523059"/>
            <a:ext cx="5367898"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Mobile Application</a:t>
            </a:r>
            <a:endParaRPr lang="en-US" sz="1350" dirty="0"/>
          </a:p>
        </p:txBody>
      </p:sp>
      <p:sp>
        <p:nvSpPr>
          <p:cNvPr id="12" name="Text 7"/>
          <p:cNvSpPr/>
          <p:nvPr/>
        </p:nvSpPr>
        <p:spPr>
          <a:xfrm>
            <a:off x="661475" y="3808214"/>
            <a:ext cx="5367898"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Employee request submission, admin approval from mobile, supplier delivery updates</a:t>
            </a:r>
            <a:endParaRPr lang="en-US" sz="11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62223" y="3035796"/>
            <a:ext cx="354401" cy="354409"/>
          </a:xfrm>
          <a:prstGeom prst="rect">
            <a:avLst/>
          </a:prstGeom>
        </p:spPr>
      </p:pic>
      <p:sp>
        <p:nvSpPr>
          <p:cNvPr id="14" name="Text 8"/>
          <p:cNvSpPr/>
          <p:nvPr/>
        </p:nvSpPr>
        <p:spPr>
          <a:xfrm>
            <a:off x="6162223" y="3523059"/>
            <a:ext cx="5367997"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Smart Automation</a:t>
            </a:r>
            <a:endParaRPr lang="en-US" sz="1350" dirty="0"/>
          </a:p>
        </p:txBody>
      </p:sp>
      <p:sp>
        <p:nvSpPr>
          <p:cNvPr id="15" name="Text 9"/>
          <p:cNvSpPr/>
          <p:nvPr/>
        </p:nvSpPr>
        <p:spPr>
          <a:xfrm>
            <a:off x="6162223" y="3808214"/>
            <a:ext cx="5367997"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Automated approval workflows, purchase-order generation, automated reminders for pending actions</a:t>
            </a:r>
            <a:endParaRPr lang="en-US" sz="11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417715"/>
            <a:ext cx="354401" cy="354409"/>
          </a:xfrm>
          <a:prstGeom prst="rect">
            <a:avLst/>
          </a:prstGeom>
        </p:spPr>
      </p:pic>
      <p:sp>
        <p:nvSpPr>
          <p:cNvPr id="17" name="Text 10"/>
          <p:cNvSpPr/>
          <p:nvPr/>
        </p:nvSpPr>
        <p:spPr>
          <a:xfrm>
            <a:off x="661475" y="4904978"/>
            <a:ext cx="5367898"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Enterprise Integration</a:t>
            </a:r>
            <a:endParaRPr lang="en-US" sz="1350" dirty="0"/>
          </a:p>
        </p:txBody>
      </p:sp>
      <p:sp>
        <p:nvSpPr>
          <p:cNvPr id="18" name="Text 11"/>
          <p:cNvSpPr/>
          <p:nvPr/>
        </p:nvSpPr>
        <p:spPr>
          <a:xfrm>
            <a:off x="661475" y="5190133"/>
            <a:ext cx="5367898"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DAD1E6"/>
                </a:solidFill>
                <a:latin typeface="Fira Sans" pitchFamily="34" charset="0"/>
                <a:ea typeface="Fira Sans" pitchFamily="34" charset="-122"/>
                <a:cs typeface="Fira Sans" pitchFamily="34" charset="-120"/>
              </a:rPr>
              <a:t>ERP/accounting system integration, payment gateway integration, enterprise SSO/identity integration</a:t>
            </a:r>
            <a:endParaRPr lang="en-US" sz="1100" dirty="0"/>
          </a:p>
        </p:txBody>
      </p:sp>
      <p:sp>
        <p:nvSpPr>
          <p:cNvPr id="19" name="Shape 12"/>
          <p:cNvSpPr/>
          <p:nvPr/>
        </p:nvSpPr>
        <p:spPr>
          <a:xfrm>
            <a:off x="661475" y="5706566"/>
            <a:ext cx="10868745" cy="471190"/>
          </a:xfrm>
          <a:prstGeom prst="roundRect">
            <a:avLst>
              <a:gd name="adj" fmla="val 4513"/>
            </a:avLst>
          </a:prstGeom>
          <a:solidFill>
            <a:srgbClr val="7B0448"/>
          </a:solidFill>
          <a:ln/>
        </p:spPr>
      </p:sp>
      <p:pic>
        <p:nvPicPr>
          <p:cNvPr id="20" name="Image 5" descr="preencoded.png"/>
          <p:cNvPicPr>
            <a:picLocks noChangeAspect="1"/>
          </p:cNvPicPr>
          <p:nvPr/>
        </p:nvPicPr>
        <p:blipFill>
          <a:blip r:embed="rId8"/>
          <a:stretch>
            <a:fillRect/>
          </a:stretch>
        </p:blipFill>
        <p:spPr>
          <a:xfrm>
            <a:off x="803156" y="5863927"/>
            <a:ext cx="177200" cy="141684"/>
          </a:xfrm>
          <a:prstGeom prst="rect">
            <a:avLst/>
          </a:prstGeom>
        </p:spPr>
      </p:pic>
      <p:sp>
        <p:nvSpPr>
          <p:cNvPr id="21" name="Text 13"/>
          <p:cNvSpPr/>
          <p:nvPr/>
        </p:nvSpPr>
        <p:spPr>
          <a:xfrm>
            <a:off x="1122037" y="5848251"/>
            <a:ext cx="10876087" cy="198438"/>
          </a:xfrm>
          <a:prstGeom prst="rect">
            <a:avLst/>
          </a:prstGeom>
          <a:noFill/>
          <a:ln/>
        </p:spPr>
        <p:txBody>
          <a:bodyPr wrap="none" lIns="0" tIns="0" rIns="0" bIns="0" rtlCol="0" anchor="t"/>
          <a:lstStyle/>
          <a:p>
            <a:pPr marL="0" indent="0" algn="l">
              <a:lnSpc>
                <a:spcPct val="117000"/>
              </a:lnSpc>
              <a:buNone/>
            </a:pPr>
            <a:r>
              <a:rPr lang="en-US" sz="1100" b="1" dirty="0">
                <a:solidFill>
                  <a:srgbClr val="FFFFFF"/>
                </a:solidFill>
                <a:latin typeface="Fira Sans Bold" pitchFamily="34" charset="0"/>
                <a:ea typeface="Fira Sans Bold" pitchFamily="34" charset="-122"/>
                <a:cs typeface="Fira Sans Bold" pitchFamily="34" charset="-120"/>
              </a:rPr>
              <a:t>VISION:</a:t>
            </a:r>
            <a:r>
              <a:rPr lang="en-US" sz="1100" dirty="0">
                <a:solidFill>
                  <a:srgbClr val="FFFFFF"/>
                </a:solidFill>
                <a:latin typeface="Fira Sans" pitchFamily="34" charset="0"/>
                <a:ea typeface="Fira Sans" pitchFamily="34" charset="-122"/>
                <a:cs typeface="Fira Sans" pitchFamily="34" charset="-120"/>
              </a:rPr>
              <a:t> A scalable, intelligent procurement platform that evolves from workflow automation into data-driven procurement management.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3148409"/>
            <a:ext cx="10868745" cy="561181"/>
          </a:xfrm>
          <a:prstGeom prst="rect">
            <a:avLst/>
          </a:prstGeom>
          <a:noFill/>
          <a:ln/>
        </p:spPr>
        <p:txBody>
          <a:bodyPr wrap="none" lIns="0" tIns="0" rIns="0" bIns="0" rtlCol="0" anchor="t"/>
          <a:lstStyle/>
          <a:p>
            <a:pPr marL="0" indent="0" algn="ctr">
              <a:lnSpc>
                <a:spcPct val="104000"/>
              </a:lnSpc>
              <a:buNone/>
            </a:pPr>
            <a:r>
              <a:rPr lang="en-US" sz="3500" b="1" dirty="0">
                <a:solidFill>
                  <a:srgbClr val="F94CAF"/>
                </a:solidFill>
                <a:latin typeface="Inconsolata Bold" pitchFamily="34" charset="0"/>
                <a:ea typeface="Inconsolata Bold" pitchFamily="34" charset="-122"/>
                <a:cs typeface="Inconsolata Bold" pitchFamily="34" charset="-120"/>
              </a:rPr>
              <a:t>Thank You</a:t>
            </a:r>
            <a:endParaRPr lang="en-US" sz="3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1311</Words>
  <Application>Microsoft Office PowerPoint</Application>
  <PresentationFormat>Widescreen</PresentationFormat>
  <Paragraphs>139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Fira Sans Bold</vt:lpstr>
      <vt:lpstr>Arial</vt:lpstr>
      <vt:lpstr>Inconsolata Bold</vt:lpstr>
      <vt:lpstr>Inconsolata Light</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Akshay Kumar Bolishetti</cp:lastModifiedBy>
  <cp:revision>6</cp:revision>
  <dcterms:created xsi:type="dcterms:W3CDTF">2026-09-13T07:57:53Z</dcterms:created>
  <dcterms:modified xsi:type="dcterms:W3CDTF">2026-09-14T14:53:28Z</dcterms:modified>
</cp:coreProperties>
</file>